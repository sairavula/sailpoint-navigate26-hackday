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b6d59df5-550a-182b-5f3f-86ea849b49ff}">
          <p14:sldIdLst>
            <p14:sldId id="256"/>
          </p14:sldIdLst>
        </p14:section>
        <p14:section name="Problem" id="{397462a3-ff55-bce3-88eb-8525c3ef4c6f}">
          <p14:sldIdLst>
            <p14:sldId id="257"/>
          </p14:sldIdLst>
        </p14:section>
        <p14:section name="Evidence" id="{04c40295-6255-8e5f-7de3-3b966dd20d6f}">
          <p14:sldIdLst>
            <p14:sldId id="258"/>
          </p14:sldIdLst>
        </p14:section>
        <p14:section name="Solution" id="{b284d048-cc8a-cb71-d9f4-8a0fa32fe288}">
          <p14:sldIdLst>
            <p14:sldId id="259"/>
            <p14:sldId id="260"/>
          </p14:sldIdLst>
        </p14:section>
        <p14:section name="Demo" id="{ff403302-da3c-2371-dccc-3522dfeece45}">
          <p14:sldIdLst>
            <p14:sldId id="261"/>
            <p14:sldId id="262"/>
          </p14:sldIdLst>
        </p14:section>
        <p14:section name="Close" id="{31f7fe1f-1416-d362-b6a1-e3f40ab8eeca}">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425166"/>
                </a:solidFill>
                <a:latin typeface="+mn-lt"/>
              </a:defRPr>
            </a:pPr>
            <a:r>
              <a:rPr sz="1400" b="0" i="0" u="none" strike="noStrike">
                <a:solidFill>
                  <a:srgbClr val="425166"/>
                </a:solidFill>
                <a:latin typeface="+mn-lt"/>
              </a:rPr>
              <a:t>Risk score (0-100)</a:t>
            </a:r>
          </a:p>
        </c:rich>
      </c:tx>
      <c:layout/>
      <c:overlay val="0"/>
    </c:title>
    <c:autoTitleDeleted val="0"/>
    <c:plotArea>
      <c:layout/>
      <c:barChart>
        <c:barDir val="bar"/>
        <c:grouping val="clustered"/>
        <c:varyColors val="0"/>
        <c:ser>
          <c:idx val="0"/>
          <c:order val="0"/>
          <c:tx>
            <c:strRef>
              <c:f>Sheet1!$B$1</c:f>
              <c:strCache>
                <c:ptCount val="1"/>
                <c:pt idx="0">
                  <c:v>Risk score</c:v>
                </c:pt>
              </c:strCache>
            </c:strRef>
          </c:tx>
          <c:spPr>
            <a:solidFill>
              <a:srgbClr val="E5484D"/>
            </a:solidFill>
            <a:effectLst/>
          </c:spPr>
          <c:invertIfNegative val="0"/>
          <c:dLbls>
            <c:numFmt formatCode="#,##0" sourceLinked="0"/>
            <c:txPr>
              <a:bodyPr/>
              <a:lstStyle/>
              <a:p>
                <a:pPr>
                  <a:defRPr b="1" i="0" strike="noStrike" sz="1400" u="none">
                    <a:solidFill>
                      <a:srgbClr val="0E1726"/>
                    </a:solidFill>
                    <a:latin typeface="+mn-lt"/>
                  </a:defRPr>
                </a:pPr>
              </a:p>
            </c:txPr>
            <c:showLegendKey val="0"/>
            <c:showVal val="1"/>
            <c:showCatName val="0"/>
            <c:showSerName val="0"/>
            <c:showPercent val="0"/>
            <c:showBubbleSize val="0"/>
            <c:showLeaderLines val="0"/>
          </c:dLbls>
          <c:dPt>
            <c:idx val="0"/>
            <c:invertIfNegative val="0"/>
            <c:bubble3D val="0"/>
            <c:spPr>
              <a:solidFill>
                <a:srgbClr val="E5484D"/>
              </a:solidFill>
              <a:effectLst/>
            </c:spPr>
          </c:dPt>
          <c:dPt>
            <c:idx val="1"/>
            <c:invertIfNegative val="0"/>
            <c:bubble3D val="0"/>
            <c:spPr>
              <a:solidFill>
                <a:srgbClr val="F5A524"/>
              </a:solidFill>
              <a:effectLst/>
            </c:spPr>
          </c:dPt>
          <c:dPt>
            <c:idx val="2"/>
            <c:invertIfNegative val="0"/>
            <c:bubble3D val="0"/>
            <c:spPr>
              <a:solidFill>
                <a:srgbClr val="64748B"/>
              </a:solidFill>
              <a:effectLst/>
            </c:spPr>
          </c:dPt>
          <c:dPt>
            <c:idx val="3"/>
            <c:invertIfNegative val="0"/>
            <c:bubble3D val="0"/>
            <c:spPr>
              <a:solidFill>
                <a:srgbClr val="64748B"/>
              </a:solidFill>
              <a:effectLst/>
            </c:spPr>
          </c:dPt>
          <c:dPt>
            <c:idx val="4"/>
            <c:invertIfNegative val="0"/>
            <c:bubble3D val="0"/>
            <c:spPr>
              <a:solidFill>
                <a:srgbClr val="17B26A"/>
              </a:solidFill>
              <a:effectLst/>
            </c:spPr>
          </c:dPt>
          <c:cat>
            <c:multiLvlStrRef>
              <c:f>Sheet1!$A$2:$A$6</c:f>
              <c:multiLvlStrCache>
                <c:ptCount val="5"/>
                <c:lvl>
                  <c:pt idx="0">
                    <c:v>invoice-bot</c:v>
                  </c:pt>
                  <c:pt idx="1">
                    <c:v>deploy-bot</c:v>
                  </c:pt>
                  <c:pt idx="2">
                    <c:v>payroll-sync-bot</c:v>
                  </c:pt>
                  <c:pt idx="3">
                    <c:v>governor (ours)</c:v>
                  </c:pt>
                  <c:pt idx="4">
                    <c:v>hr-onboarding-bot</c:v>
                  </c:pt>
                </c:lvl>
              </c:multiLvlStrCache>
            </c:multiLvlStrRef>
          </c:cat>
          <c:val>
            <c:numRef>
              <c:f>Sheet1!$B$2:$B$6</c:f>
              <c:numCache>
                <c:formatCode>General</c:formatCode>
                <c:ptCount val="5"/>
                <c:pt idx="0">
                  <c:v>90</c:v>
                </c:pt>
                <c:pt idx="1">
                  <c:v>60</c:v>
                </c:pt>
                <c:pt idx="2">
                  <c:v>10</c:v>
                </c:pt>
                <c:pt idx="3">
                  <c:v>10</c:v>
                </c:pt>
                <c:pt idx="4">
                  <c:v>0</c:v>
                </c:pt>
              </c:numCache>
            </c:numRef>
          </c:val>
        </c:ser>
        <c:dLbls>
          <c:numFmt formatCode="#,##0" sourceLinked="0"/>
          <c:txPr>
            <a:bodyPr/>
            <a:lstStyle/>
            <a:p>
              <a:pPr>
                <a:defRPr b="1" i="0" strike="noStrike" sz="1400" u="none">
                  <a:solidFill>
                    <a:srgbClr val="0E172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0E1726"/>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MUYIWA (0:00-0:20): AI agents are getting access faster than governance can keep up. Three of these checks pass. The fourth asks whether anyone is still accountable for the agent, and it fails. Today we'll show you how an MCP server catches that and contains it, with a human in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SAI: Point checks look at one object. Accountability lives in the chain: agent, access, purpose, owner, the owner's lifecycle, the owner's manager. invoice-bot passes every point check on the left and fails every chain check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SAI (0:20-0:55): Is our governance healthy? The point check says yes: zero ownerless objects. The chain says no: one person with no manager owns 96% of governed objects, every leaver still has enabled accounts, and two-thirds of privileged access was granted directly. Agents inherit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(skip if the live demo works). SAI: Four tools: explain, expose, detect, contain. Four of the five are read-only. Python FastMCP on the ISC APIs, credentials only in the OS vault, every call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SAI or ALEX (about 20 seconds): MCP lets any AI client call our tools. You ask in plain English, Claude picks the tool, our server calls the ISC APIs and returns the answer with evidence. Four tools only read. The fifth, quarantine, runs a dry run first, and the server refuses to act without the token from that dry run and a human approving.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SAI (0:55-1:30): Are any of our agents rogue? invoice-bot is 90, critical. Its owner left, it holds access beyond its purpose, and it violates a real enforced SoD policy. Note hr-onboarding-bot at zero: the tool separates healthy agents from rogue ones, so you don't get alert fatigue. ALEX (1:30-1:55): Why does it have AccountsReceivable? Direct grant, no role justifies it, outside its declared purpose. IF ASKED about weights: deliberately simple and explainable; no accountable human (40) outranks a toxic access combination (30), which outranks drift (20); tunable in one place and unit-tested. IF ASKED about declaredAccess being self-declared: true; phase 2 sources purpose from the approved access request. The SoD and orphaned-owner checks fire regardless.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SAI (1:55-2:40): Quarantine invoice-bot. It returns a plan and a one-time token, and changes nothing. The server refuses to act without that token. Confirmed: now it tags the agent in ISC and disables its account in the app it acts on, then escalates to Denise's manager. Re-run detection: QUARANTINED. If asked: the agents are staged; the owners, leaver status, entitlements and SoD policy are real. Flat-file sources can't provision, which we found in rehearsal, so we tag in ISC and disable at the target app. IF ASKED 'a tag isn't containment': correct, the disable in the target app stops the bot; the ISC tag is the governance record. IF ASKED about prompt injection through agent metadata: the model can plan, but only a human's confirm=true acts, after a dry run, and it is reversible. IF ASKED about sp:scopes:all: the lab requires it; production uses a read-only client plus one scoped write for tagging.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MUYIWA (2:40-3:00): Detection to containment in minutes, not days, and a human always approves. The same chain model covers people and agents. Next is a 30-day pilot. The code, tests and honest limitations are in the repo. Your dashboards say green; ask the agent what they're not telling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11094415" cy="137160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548640" y="3063240"/>
            <a:ext cx="8686800" cy="1097280"/>
          </a:xfrm>
          <a:prstGeom prst="rect">
            <a:avLst/>
          </a:prstGeom>
          <a:noFill/>
          <a:ln/>
        </p:spPr>
        <p:txBody>
          <a:bodyPr wrap="square" rtlCol="0"/>
          <a:lstStyle>
            <a:lvl1pPr indent="0" marL="0">
              <a:buNone/>
              <a:defRPr lang="en-US" sz="2000" dirty="0">
                <a:solidFill>
                  <a:srgbClr val="C7D0DC"/>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rtlCol="0"/>
          <a:lstStyle>
            <a:lvl1pPr algn="l" indent="0" marL="0">
              <a:buNone/>
              <a:defRPr lang="en-US" sz="3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Green Isn't Safe  ·  SailPoint Navigate 2026 Hack Day</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sairavula/Sailpoint-Navigate26-HackDay" TargetMode="Externa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11094415" cy="137160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Green Isn't Safe</a:t>
            </a:r>
            <a:endParaRPr lang="en-US" sz="5400" dirty="0"/>
          </a:p>
        </p:txBody>
      </p:sp>
      <p:sp>
        <p:nvSpPr>
          <p:cNvPr id="3" name="Text 0"/>
          <p:cNvSpPr/>
          <p:nvPr>
            <p:ph idx="101" type="body" hasCustomPrompt="1"/>
          </p:nvPr>
        </p:nvSpPr>
        <p:spPr>
          <a:xfrm>
            <a:off x="548640" y="3063240"/>
            <a:ext cx="8686800" cy="1097280"/>
          </a:xfrm>
          <a:prstGeom prst="rect">
            <a:avLst/>
          </a:prstGeom>
          <a:noFill/>
          <a:ln/>
        </p:spPr>
        <p:txBody>
          <a:bodyPr wrap="square" lIns="0" tIns="0" rIns="0" bIns="0" rtlCol="0" anchor="t"/>
          <a:lstStyle/>
          <a:p>
            <a:pPr indent="0" marL="0">
              <a:buNone/>
            </a:pPr>
            <a:r>
              <a:rPr lang="en-US" sz="2000" dirty="0">
                <a:solidFill>
                  <a:srgbClr val="C7D0DC"/>
                </a:solidFill>
              </a:rPr>
              <a:t>Catching rogue AI agents through their accountability chain, then containing them with a human in the loop</a:t>
            </a:r>
            <a:endParaRPr lang="en-US" sz="2000" dirty="0"/>
          </a:p>
        </p:txBody>
      </p:sp>
      <p:sp>
        <p:nvSpPr>
          <p:cNvPr id="4" name="pill-1"/>
          <p:cNvSpPr/>
          <p:nvPr/>
        </p:nvSpPr>
        <p:spPr>
          <a:xfrm>
            <a:off x="548640" y="4343400"/>
            <a:ext cx="2377440" cy="438912"/>
          </a:xfrm>
          <a:prstGeom prst="roundRect">
            <a:avLst>
              <a:gd name="adj" fmla="val 50000"/>
            </a:avLst>
          </a:prstGeom>
          <a:solidFill>
            <a:srgbClr val="16233A"/>
          </a:solidFill>
          <a:ln w="15875">
            <a:solidFill>
              <a:schemeClr val="accent1"/>
            </a:solidFill>
            <a:prstDash val="solid"/>
          </a:ln>
        </p:spPr>
      </p:sp>
      <p:sp>
        <p:nvSpPr>
          <p:cNvPr id="5" name="pilltxt-2"/>
          <p:cNvSpPr txBox="1"/>
          <p:nvPr/>
        </p:nvSpPr>
        <p:spPr>
          <a:xfrm>
            <a:off x="731520" y="4343400"/>
            <a:ext cx="2103120" cy="438912"/>
          </a:xfrm>
          <a:prstGeom prst="rect">
            <a:avLst/>
          </a:prstGeom>
          <a:noFill/>
          <a:ln/>
        </p:spPr>
        <p:txBody>
          <a:bodyPr wrap="square" lIns="0" tIns="0" rIns="0" bIns="0" rtlCol="0" anchor="ctr"/>
          <a:lstStyle/>
          <a:p>
            <a:pPr indent="0" marL="0">
              <a:buNone/>
            </a:pPr>
            <a:r>
              <a:rPr lang="en-US" sz="1300" b="1" dirty="0">
                <a:solidFill>
                  <a:schemeClr val="accent1"/>
                </a:solidFill>
              </a:rPr>
              <a:t>PASS</a:t>
            </a:r>
            <a:pPr indent="0" marL="0">
              <a:buNone/>
            </a:pPr>
            <a:r>
              <a:rPr lang="en-US" sz="1300" dirty="0">
                <a:solidFill>
                  <a:srgbClr val="E6EBF2"/>
                </a:solidFill>
              </a:rPr>
              <a:t>   Agent registered</a:t>
            </a:r>
            <a:endParaRPr lang="en-US" sz="1300" dirty="0"/>
          </a:p>
        </p:txBody>
      </p:sp>
      <p:sp>
        <p:nvSpPr>
          <p:cNvPr id="6" name="pill-3"/>
          <p:cNvSpPr/>
          <p:nvPr/>
        </p:nvSpPr>
        <p:spPr>
          <a:xfrm>
            <a:off x="3108960" y="4343400"/>
            <a:ext cx="2194560" cy="438912"/>
          </a:xfrm>
          <a:prstGeom prst="roundRect">
            <a:avLst>
              <a:gd name="adj" fmla="val 50000"/>
            </a:avLst>
          </a:prstGeom>
          <a:solidFill>
            <a:srgbClr val="16233A"/>
          </a:solidFill>
          <a:ln w="15875">
            <a:solidFill>
              <a:schemeClr val="accent1"/>
            </a:solidFill>
            <a:prstDash val="solid"/>
          </a:ln>
        </p:spPr>
      </p:sp>
      <p:sp>
        <p:nvSpPr>
          <p:cNvPr id="7" name="pilltxt-4"/>
          <p:cNvSpPr txBox="1"/>
          <p:nvPr/>
        </p:nvSpPr>
        <p:spPr>
          <a:xfrm>
            <a:off x="3291840" y="4343400"/>
            <a:ext cx="1920240" cy="438912"/>
          </a:xfrm>
          <a:prstGeom prst="rect">
            <a:avLst/>
          </a:prstGeom>
          <a:noFill/>
          <a:ln/>
        </p:spPr>
        <p:txBody>
          <a:bodyPr wrap="square" lIns="0" tIns="0" rIns="0" bIns="0" rtlCol="0" anchor="ctr"/>
          <a:lstStyle/>
          <a:p>
            <a:pPr indent="0" marL="0">
              <a:buNone/>
            </a:pPr>
            <a:r>
              <a:rPr lang="en-US" sz="1300" b="1" dirty="0">
                <a:solidFill>
                  <a:schemeClr val="accent1"/>
                </a:solidFill>
              </a:rPr>
              <a:t>PASS</a:t>
            </a:r>
            <a:pPr indent="0" marL="0">
              <a:buNone/>
            </a:pPr>
            <a:r>
              <a:rPr lang="en-US" sz="1300" dirty="0">
                <a:solidFill>
                  <a:srgbClr val="E6EBF2"/>
                </a:solidFill>
              </a:rPr>
              <a:t>   Has an owner</a:t>
            </a:r>
            <a:endParaRPr lang="en-US" sz="1300" dirty="0"/>
          </a:p>
        </p:txBody>
      </p:sp>
      <p:sp>
        <p:nvSpPr>
          <p:cNvPr id="8" name="pill-5"/>
          <p:cNvSpPr/>
          <p:nvPr/>
        </p:nvSpPr>
        <p:spPr>
          <a:xfrm>
            <a:off x="5486400" y="4343400"/>
            <a:ext cx="2377440" cy="438912"/>
          </a:xfrm>
          <a:prstGeom prst="roundRect">
            <a:avLst>
              <a:gd name="adj" fmla="val 50000"/>
            </a:avLst>
          </a:prstGeom>
          <a:solidFill>
            <a:srgbClr val="16233A"/>
          </a:solidFill>
          <a:ln w="15875">
            <a:solidFill>
              <a:schemeClr val="accent1"/>
            </a:solidFill>
            <a:prstDash val="solid"/>
          </a:ln>
        </p:spPr>
      </p:sp>
      <p:sp>
        <p:nvSpPr>
          <p:cNvPr id="9" name="pilltxt-6"/>
          <p:cNvSpPr txBox="1"/>
          <p:nvPr/>
        </p:nvSpPr>
        <p:spPr>
          <a:xfrm>
            <a:off x="5669280" y="4343400"/>
            <a:ext cx="2103120" cy="438912"/>
          </a:xfrm>
          <a:prstGeom prst="rect">
            <a:avLst/>
          </a:prstGeom>
          <a:noFill/>
          <a:ln/>
        </p:spPr>
        <p:txBody>
          <a:bodyPr wrap="square" lIns="0" tIns="0" rIns="0" bIns="0" rtlCol="0" anchor="ctr"/>
          <a:lstStyle/>
          <a:p>
            <a:pPr indent="0" marL="0">
              <a:buNone/>
            </a:pPr>
            <a:r>
              <a:rPr lang="en-US" sz="1300" b="1" dirty="0">
                <a:solidFill>
                  <a:schemeClr val="accent1"/>
                </a:solidFill>
              </a:rPr>
              <a:t>PASS</a:t>
            </a:r>
            <a:pPr indent="0" marL="0">
              <a:buNone/>
            </a:pPr>
            <a:r>
              <a:rPr lang="en-US" sz="1300" dirty="0">
                <a:solidFill>
                  <a:srgbClr val="E6EBF2"/>
                </a:solidFill>
              </a:rPr>
              <a:t>   Account active</a:t>
            </a:r>
            <a:endParaRPr lang="en-US" sz="1300" dirty="0"/>
          </a:p>
        </p:txBody>
      </p:sp>
      <p:sp>
        <p:nvSpPr>
          <p:cNvPr id="10" name="pill-7"/>
          <p:cNvSpPr/>
          <p:nvPr/>
        </p:nvSpPr>
        <p:spPr>
          <a:xfrm>
            <a:off x="8046720" y="4343400"/>
            <a:ext cx="3566160" cy="438912"/>
          </a:xfrm>
          <a:prstGeom prst="roundRect">
            <a:avLst>
              <a:gd name="adj" fmla="val 50000"/>
            </a:avLst>
          </a:prstGeom>
          <a:solidFill>
            <a:srgbClr val="16233A"/>
          </a:solidFill>
          <a:ln w="15875">
            <a:solidFill>
              <a:schemeClr val="accent2"/>
            </a:solidFill>
            <a:prstDash val="solid"/>
          </a:ln>
        </p:spPr>
      </p:sp>
      <p:sp>
        <p:nvSpPr>
          <p:cNvPr id="11" name="pilltxt-8"/>
          <p:cNvSpPr txBox="1"/>
          <p:nvPr/>
        </p:nvSpPr>
        <p:spPr>
          <a:xfrm>
            <a:off x="8229600" y="4343400"/>
            <a:ext cx="3291840" cy="438912"/>
          </a:xfrm>
          <a:prstGeom prst="rect">
            <a:avLst/>
          </a:prstGeom>
          <a:noFill/>
          <a:ln/>
        </p:spPr>
        <p:txBody>
          <a:bodyPr wrap="square" lIns="0" tIns="0" rIns="0" bIns="0" rtlCol="0" anchor="ctr"/>
          <a:lstStyle/>
          <a:p>
            <a:pPr indent="0" marL="0">
              <a:buNone/>
            </a:pPr>
            <a:r>
              <a:rPr lang="en-US" sz="1300" b="1" dirty="0">
                <a:solidFill>
                  <a:schemeClr val="accent2"/>
                </a:solidFill>
              </a:rPr>
              <a:t>FAIL</a:t>
            </a:r>
            <a:pPr indent="0" marL="0">
              <a:buNone/>
            </a:pPr>
            <a:r>
              <a:rPr lang="en-US" sz="1300" dirty="0">
                <a:solidFill>
                  <a:srgbClr val="E6EBF2"/>
                </a:solidFill>
              </a:rPr>
              <a:t>   Owner left. Nobody is accountable.</a:t>
            </a:r>
            <a:endParaRPr lang="en-US" sz="1300" dirty="0"/>
          </a:p>
        </p:txBody>
      </p:sp>
      <p:sp>
        <p:nvSpPr>
          <p:cNvPr id="12" name="team"/>
          <p:cNvSpPr txBox="1"/>
          <p:nvPr/>
        </p:nvSpPr>
        <p:spPr>
          <a:xfrm>
            <a:off x="548640" y="5760720"/>
            <a:ext cx="6400800" cy="365760"/>
          </a:xfrm>
          <a:prstGeom prst="rect">
            <a:avLst/>
          </a:prstGeom>
          <a:noFill/>
          <a:ln/>
        </p:spPr>
        <p:txBody>
          <a:bodyPr wrap="square" lIns="0" tIns="0" rIns="0" bIns="0" rtlCol="0" anchor="ctr"/>
          <a:lstStyle/>
          <a:p>
            <a:pPr indent="0" marL="0">
              <a:buNone/>
            </a:pPr>
            <a:r>
              <a:rPr lang="en-US" sz="1600" b="1" dirty="0">
                <a:solidFill>
                  <a:schemeClr val="bg1"/>
                </a:solidFill>
              </a:rPr>
              <a:t>Sai Ravula  ·  Alex  ·  Muyiwa</a:t>
            </a:r>
            <a:endParaRPr lang="en-US" sz="1600" dirty="0"/>
          </a:p>
        </p:txBody>
      </p:sp>
      <p:sp>
        <p:nvSpPr>
          <p:cNvPr id="13" name="event"/>
          <p:cNvSpPr txBox="1"/>
          <p:nvPr/>
        </p:nvSpPr>
        <p:spPr>
          <a:xfrm>
            <a:off x="548640" y="6126480"/>
            <a:ext cx="6400800" cy="320040"/>
          </a:xfrm>
          <a:prstGeom prst="rect">
            <a:avLst/>
          </a:prstGeom>
          <a:noFill/>
          <a:ln/>
        </p:spPr>
        <p:txBody>
          <a:bodyPr wrap="square" lIns="0" tIns="0" rIns="0" bIns="0" rtlCol="0" anchor="ctr"/>
          <a:lstStyle/>
          <a:p>
            <a:pPr indent="0" marL="0">
              <a:buNone/>
            </a:pPr>
            <a:r>
              <a:rPr lang="en-US" sz="1300" dirty="0">
                <a:solidFill>
                  <a:srgbClr val="93A1B5"/>
                </a:solidFill>
              </a:rPr>
              <a:t>SailPoint Navigate 2026 Hack Day  ·  MCP Server track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Every check passes. Nobody is accountable.</a:t>
            </a:r>
            <a:endParaRPr lang="en-US" sz="3400" dirty="0"/>
          </a:p>
        </p:txBody>
      </p:sp>
      <p:sp>
        <p:nvSpPr>
          <p:cNvPr id="3" name="dash-h"/>
          <p:cNvSpPr txBox="1"/>
          <p:nvPr/>
        </p:nvSpPr>
        <p:spPr>
          <a:xfrm>
            <a:off x="548640" y="1417320"/>
            <a:ext cx="5120640" cy="411480"/>
          </a:xfrm>
          <a:prstGeom prst="rect">
            <a:avLst/>
          </a:prstGeom>
          <a:noFill/>
          <a:ln/>
        </p:spPr>
        <p:txBody>
          <a:bodyPr wrap="square" lIns="0" tIns="0" rIns="0" bIns="0" rtlCol="0" anchor="ctr"/>
          <a:lstStyle/>
          <a:p>
            <a:pPr indent="0" marL="0">
              <a:buNone/>
            </a:pPr>
            <a:r>
              <a:rPr lang="en-US" sz="1800" b="1" dirty="0">
                <a:solidFill>
                  <a:schemeClr val="tx2"/>
                </a:solidFill>
              </a:rPr>
              <a:t>What the dashboard shows</a:t>
            </a:r>
            <a:endParaRPr lang="en-US" sz="1800" dirty="0"/>
          </a:p>
        </p:txBody>
      </p:sp>
      <p:sp>
        <p:nvSpPr>
          <p:cNvPr id="4" name="pill-9"/>
          <p:cNvSpPr/>
          <p:nvPr/>
        </p:nvSpPr>
        <p:spPr>
          <a:xfrm>
            <a:off x="548640" y="1965960"/>
            <a:ext cx="5120640" cy="457200"/>
          </a:xfrm>
          <a:prstGeom prst="roundRect">
            <a:avLst>
              <a:gd name="adj" fmla="val 50000"/>
            </a:avLst>
          </a:prstGeom>
          <a:solidFill>
            <a:srgbClr val="E7F7EF"/>
          </a:solidFill>
          <a:ln w="15875">
            <a:solidFill>
              <a:schemeClr val="accent1"/>
            </a:solidFill>
            <a:prstDash val="solid"/>
          </a:ln>
        </p:spPr>
      </p:sp>
      <p:sp>
        <p:nvSpPr>
          <p:cNvPr id="5" name="pilltxt-10"/>
          <p:cNvSpPr txBox="1"/>
          <p:nvPr/>
        </p:nvSpPr>
        <p:spPr>
          <a:xfrm>
            <a:off x="731520" y="1965960"/>
            <a:ext cx="4846320" cy="457200"/>
          </a:xfrm>
          <a:prstGeom prst="rect">
            <a:avLst/>
          </a:prstGeom>
          <a:noFill/>
          <a:ln/>
        </p:spPr>
        <p:txBody>
          <a:bodyPr wrap="square" lIns="0" tIns="0" rIns="0" bIns="0" rtlCol="0" anchor="ctr">
            <a:normAutofit/>
          </a:bodyPr>
          <a:lstStyle/>
          <a:p>
            <a:pPr indent="0" marL="0">
              <a:buNone/>
            </a:pPr>
            <a:r>
              <a:rPr lang="en-US" sz="1300" b="1" dirty="0">
                <a:solidFill>
                  <a:schemeClr val="accent1"/>
                </a:solidFill>
              </a:rPr>
              <a:t>PASS</a:t>
            </a:r>
            <a:pPr indent="0" marL="0">
              <a:buNone/>
            </a:pPr>
            <a:r>
              <a:rPr lang="en-US" sz="1400" dirty="0">
                <a:solidFill>
                  <a:schemeClr val="tx1"/>
                </a:solidFill>
              </a:rPr>
              <a:t>   invoice-bot is registered and has an owner</a:t>
            </a:r>
            <a:endParaRPr lang="en-US" sz="1300" dirty="0"/>
          </a:p>
        </p:txBody>
      </p:sp>
      <p:sp>
        <p:nvSpPr>
          <p:cNvPr id="6" name="pill-11"/>
          <p:cNvSpPr/>
          <p:nvPr/>
        </p:nvSpPr>
        <p:spPr>
          <a:xfrm>
            <a:off x="548640" y="2560320"/>
            <a:ext cx="5120640" cy="457200"/>
          </a:xfrm>
          <a:prstGeom prst="roundRect">
            <a:avLst>
              <a:gd name="adj" fmla="val 50000"/>
            </a:avLst>
          </a:prstGeom>
          <a:solidFill>
            <a:srgbClr val="E7F7EF"/>
          </a:solidFill>
          <a:ln w="15875">
            <a:solidFill>
              <a:schemeClr val="accent1"/>
            </a:solidFill>
            <a:prstDash val="solid"/>
          </a:ln>
        </p:spPr>
      </p:sp>
      <p:sp>
        <p:nvSpPr>
          <p:cNvPr id="7" name="pilltxt-12"/>
          <p:cNvSpPr txBox="1"/>
          <p:nvPr/>
        </p:nvSpPr>
        <p:spPr>
          <a:xfrm>
            <a:off x="731520" y="2560320"/>
            <a:ext cx="4846320" cy="457200"/>
          </a:xfrm>
          <a:prstGeom prst="rect">
            <a:avLst/>
          </a:prstGeom>
          <a:noFill/>
          <a:ln/>
        </p:spPr>
        <p:txBody>
          <a:bodyPr wrap="square" lIns="0" tIns="0" rIns="0" bIns="0" rtlCol="0" anchor="ctr">
            <a:normAutofit/>
          </a:bodyPr>
          <a:lstStyle/>
          <a:p>
            <a:pPr indent="0" marL="0">
              <a:buNone/>
            </a:pPr>
            <a:r>
              <a:rPr lang="en-US" sz="1300" b="1" dirty="0">
                <a:solidFill>
                  <a:schemeClr val="accent1"/>
                </a:solidFill>
              </a:rPr>
              <a:t>PASS</a:t>
            </a:r>
            <a:pPr indent="0" marL="0">
              <a:buNone/>
            </a:pPr>
            <a:r>
              <a:rPr lang="en-US" sz="1400" dirty="0">
                <a:solidFill>
                  <a:schemeClr val="tx1"/>
                </a:solidFill>
              </a:rPr>
              <a:t>   Its account is active on the source</a:t>
            </a:r>
            <a:endParaRPr lang="en-US" sz="1300" dirty="0"/>
          </a:p>
        </p:txBody>
      </p:sp>
      <p:sp>
        <p:nvSpPr>
          <p:cNvPr id="8" name="pill-13"/>
          <p:cNvSpPr/>
          <p:nvPr/>
        </p:nvSpPr>
        <p:spPr>
          <a:xfrm>
            <a:off x="548640" y="3154680"/>
            <a:ext cx="5120640" cy="457200"/>
          </a:xfrm>
          <a:prstGeom prst="roundRect">
            <a:avLst>
              <a:gd name="adj" fmla="val 50000"/>
            </a:avLst>
          </a:prstGeom>
          <a:solidFill>
            <a:srgbClr val="E7F7EF"/>
          </a:solidFill>
          <a:ln w="15875">
            <a:solidFill>
              <a:schemeClr val="accent1"/>
            </a:solidFill>
            <a:prstDash val="solid"/>
          </a:ln>
        </p:spPr>
      </p:sp>
      <p:sp>
        <p:nvSpPr>
          <p:cNvPr id="9" name="pilltxt-14"/>
          <p:cNvSpPr txBox="1"/>
          <p:nvPr/>
        </p:nvSpPr>
        <p:spPr>
          <a:xfrm>
            <a:off x="731520" y="3154680"/>
            <a:ext cx="4846320" cy="457200"/>
          </a:xfrm>
          <a:prstGeom prst="rect">
            <a:avLst/>
          </a:prstGeom>
          <a:noFill/>
          <a:ln/>
        </p:spPr>
        <p:txBody>
          <a:bodyPr wrap="square" lIns="0" tIns="0" rIns="0" bIns="0" rtlCol="0" anchor="ctr">
            <a:normAutofit/>
          </a:bodyPr>
          <a:lstStyle/>
          <a:p>
            <a:pPr indent="0" marL="0">
              <a:buNone/>
            </a:pPr>
            <a:r>
              <a:rPr lang="en-US" sz="1300" b="1" dirty="0">
                <a:solidFill>
                  <a:schemeClr val="accent1"/>
                </a:solidFill>
              </a:rPr>
              <a:t>PASS</a:t>
            </a:r>
            <a:pPr indent="0" marL="0">
              <a:buNone/>
            </a:pPr>
            <a:r>
              <a:rPr lang="en-US" sz="1400" dirty="0">
                <a:solidFill>
                  <a:schemeClr val="tx1"/>
                </a:solidFill>
              </a:rPr>
              <a:t>   Ownership check: 0 ownerless objects</a:t>
            </a:r>
            <a:endParaRPr lang="en-US" sz="1300" dirty="0"/>
          </a:p>
        </p:txBody>
      </p:sp>
      <p:sp>
        <p:nvSpPr>
          <p:cNvPr id="10" name="chain-h"/>
          <p:cNvSpPr txBox="1"/>
          <p:nvPr/>
        </p:nvSpPr>
        <p:spPr>
          <a:xfrm>
            <a:off x="6309360" y="1417320"/>
            <a:ext cx="5303520" cy="411480"/>
          </a:xfrm>
          <a:prstGeom prst="rect">
            <a:avLst/>
          </a:prstGeom>
          <a:noFill/>
          <a:ln/>
        </p:spPr>
        <p:txBody>
          <a:bodyPr wrap="square" lIns="0" tIns="0" rIns="0" bIns="0" rtlCol="0" anchor="ctr"/>
          <a:lstStyle/>
          <a:p>
            <a:pPr indent="0" marL="0">
              <a:buNone/>
            </a:pPr>
            <a:r>
              <a:rPr lang="en-US" sz="1800" b="1" dirty="0">
                <a:solidFill>
                  <a:schemeClr val="tx2"/>
                </a:solidFill>
              </a:rPr>
              <a:t>What the chain shows</a:t>
            </a:r>
            <a:endParaRPr lang="en-US" sz="1800" dirty="0"/>
          </a:p>
        </p:txBody>
      </p:sp>
      <p:sp>
        <p:nvSpPr>
          <p:cNvPr id="11" name="pill-15"/>
          <p:cNvSpPr/>
          <p:nvPr/>
        </p:nvSpPr>
        <p:spPr>
          <a:xfrm>
            <a:off x="6309360" y="1965960"/>
            <a:ext cx="5330952" cy="457200"/>
          </a:xfrm>
          <a:prstGeom prst="roundRect">
            <a:avLst>
              <a:gd name="adj" fmla="val 50000"/>
            </a:avLst>
          </a:prstGeom>
          <a:solidFill>
            <a:srgbClr val="FDECEC"/>
          </a:solidFill>
          <a:ln w="15875">
            <a:solidFill>
              <a:schemeClr val="accent2"/>
            </a:solidFill>
            <a:prstDash val="solid"/>
          </a:ln>
        </p:spPr>
      </p:sp>
      <p:sp>
        <p:nvSpPr>
          <p:cNvPr id="12" name="pilltxt-16"/>
          <p:cNvSpPr txBox="1"/>
          <p:nvPr/>
        </p:nvSpPr>
        <p:spPr>
          <a:xfrm>
            <a:off x="6492240" y="1965960"/>
            <a:ext cx="5056632" cy="457200"/>
          </a:xfrm>
          <a:prstGeom prst="rect">
            <a:avLst/>
          </a:prstGeom>
          <a:noFill/>
          <a:ln/>
        </p:spPr>
        <p:txBody>
          <a:bodyPr wrap="square" lIns="0" tIns="0" rIns="0" bIns="0" rtlCol="0" anchor="ctr">
            <a:normAutofit/>
          </a:bodyPr>
          <a:lstStyle/>
          <a:p>
            <a:pPr indent="0" marL="0">
              <a:buNone/>
            </a:pPr>
            <a:r>
              <a:rPr lang="en-US" sz="1300" b="1" dirty="0">
                <a:solidFill>
                  <a:schemeClr val="accent2"/>
                </a:solidFill>
              </a:rPr>
              <a:t>FAIL</a:t>
            </a:r>
            <a:pPr indent="0" marL="0">
              <a:buNone/>
            </a:pPr>
            <a:r>
              <a:rPr lang="en-US" sz="1400" dirty="0">
                <a:solidFill>
                  <a:schemeClr val="tx1"/>
                </a:solidFill>
              </a:rPr>
              <a:t>   Owner Denise.Hunt left the company</a:t>
            </a:r>
            <a:endParaRPr lang="en-US" sz="1300" dirty="0"/>
          </a:p>
        </p:txBody>
      </p:sp>
      <p:sp>
        <p:nvSpPr>
          <p:cNvPr id="13" name="pill-17"/>
          <p:cNvSpPr/>
          <p:nvPr/>
        </p:nvSpPr>
        <p:spPr>
          <a:xfrm>
            <a:off x="6309360" y="2560320"/>
            <a:ext cx="5330952" cy="457200"/>
          </a:xfrm>
          <a:prstGeom prst="roundRect">
            <a:avLst>
              <a:gd name="adj" fmla="val 50000"/>
            </a:avLst>
          </a:prstGeom>
          <a:solidFill>
            <a:srgbClr val="FDECEC"/>
          </a:solidFill>
          <a:ln w="15875">
            <a:solidFill>
              <a:schemeClr val="accent2"/>
            </a:solidFill>
            <a:prstDash val="solid"/>
          </a:ln>
        </p:spPr>
      </p:sp>
      <p:sp>
        <p:nvSpPr>
          <p:cNvPr id="14" name="pilltxt-18"/>
          <p:cNvSpPr txBox="1"/>
          <p:nvPr/>
        </p:nvSpPr>
        <p:spPr>
          <a:xfrm>
            <a:off x="6492240" y="2560320"/>
            <a:ext cx="5056632" cy="457200"/>
          </a:xfrm>
          <a:prstGeom prst="rect">
            <a:avLst/>
          </a:prstGeom>
          <a:noFill/>
          <a:ln/>
        </p:spPr>
        <p:txBody>
          <a:bodyPr wrap="square" lIns="0" tIns="0" rIns="0" bIns="0" rtlCol="0" anchor="ctr">
            <a:normAutofit/>
          </a:bodyPr>
          <a:lstStyle/>
          <a:p>
            <a:pPr indent="0" marL="0">
              <a:buNone/>
            </a:pPr>
            <a:r>
              <a:rPr lang="en-US" sz="1300" b="1" dirty="0">
                <a:solidFill>
                  <a:schemeClr val="accent2"/>
                </a:solidFill>
              </a:rPr>
              <a:t>FAIL</a:t>
            </a:r>
            <a:pPr indent="0" marL="0">
              <a:buNone/>
            </a:pPr>
            <a:r>
              <a:rPr lang="en-US" sz="1400" dirty="0">
                <a:solidFill>
                  <a:schemeClr val="tx1"/>
                </a:solidFill>
              </a:rPr>
              <a:t>   Holds AccountsReceivable beyond its declared purpose</a:t>
            </a:r>
            <a:endParaRPr lang="en-US" sz="1300" dirty="0"/>
          </a:p>
        </p:txBody>
      </p:sp>
      <p:sp>
        <p:nvSpPr>
          <p:cNvPr id="15" name="pill-19"/>
          <p:cNvSpPr/>
          <p:nvPr/>
        </p:nvSpPr>
        <p:spPr>
          <a:xfrm>
            <a:off x="6309360" y="3154680"/>
            <a:ext cx="5330952" cy="457200"/>
          </a:xfrm>
          <a:prstGeom prst="roundRect">
            <a:avLst>
              <a:gd name="adj" fmla="val 50000"/>
            </a:avLst>
          </a:prstGeom>
          <a:solidFill>
            <a:srgbClr val="FDECEC"/>
          </a:solidFill>
          <a:ln w="15875">
            <a:solidFill>
              <a:schemeClr val="accent2"/>
            </a:solidFill>
            <a:prstDash val="solid"/>
          </a:ln>
        </p:spPr>
      </p:sp>
      <p:sp>
        <p:nvSpPr>
          <p:cNvPr id="16" name="pilltxt-20"/>
          <p:cNvSpPr txBox="1"/>
          <p:nvPr/>
        </p:nvSpPr>
        <p:spPr>
          <a:xfrm>
            <a:off x="6492240" y="3154680"/>
            <a:ext cx="5056632" cy="457200"/>
          </a:xfrm>
          <a:prstGeom prst="rect">
            <a:avLst/>
          </a:prstGeom>
          <a:noFill/>
          <a:ln/>
        </p:spPr>
        <p:txBody>
          <a:bodyPr wrap="square" lIns="0" tIns="0" rIns="0" bIns="0" rtlCol="0" anchor="ctr">
            <a:normAutofit/>
          </a:bodyPr>
          <a:lstStyle/>
          <a:p>
            <a:pPr indent="0" marL="0">
              <a:buNone/>
            </a:pPr>
            <a:r>
              <a:rPr lang="en-US" sz="1300" b="1" dirty="0">
                <a:solidFill>
                  <a:schemeClr val="accent2"/>
                </a:solidFill>
              </a:rPr>
              <a:t>FAIL</a:t>
            </a:r>
            <a:pPr indent="0" marL="0">
              <a:buNone/>
            </a:pPr>
            <a:r>
              <a:rPr lang="en-US" sz="1400" dirty="0">
                <a:solidFill>
                  <a:schemeClr val="tx1"/>
                </a:solidFill>
              </a:rPr>
              <a:t>   Violates ENFORCED SoD policy: Money In and Out</a:t>
            </a:r>
            <a:endParaRPr lang="en-US" sz="1300" dirty="0"/>
          </a:p>
        </p:txBody>
      </p:sp>
      <p:sp>
        <p:nvSpPr>
          <p:cNvPr id="17" name="chain-cap"/>
          <p:cNvSpPr txBox="1"/>
          <p:nvPr/>
        </p:nvSpPr>
        <p:spPr>
          <a:xfrm>
            <a:off x="548640" y="3931920"/>
            <a:ext cx="10972800" cy="365760"/>
          </a:xfrm>
          <a:prstGeom prst="rect">
            <a:avLst/>
          </a:prstGeom>
          <a:noFill/>
          <a:ln/>
        </p:spPr>
        <p:txBody>
          <a:bodyPr wrap="square" lIns="0" tIns="0" rIns="0" bIns="0" rtlCol="0" anchor="ctr"/>
          <a:lstStyle/>
          <a:p>
            <a:pPr indent="0" marL="0">
              <a:buNone/>
            </a:pPr>
            <a:r>
              <a:rPr lang="en-US" sz="1500" i="1" dirty="0">
                <a:solidFill>
                  <a:schemeClr val="tx2"/>
                </a:solidFill>
              </a:rPr>
              <a:t>Accountability is a chain. ISC is viewed one object at a time.</a:t>
            </a:r>
            <a:endParaRPr lang="en-US" sz="1500" dirty="0"/>
          </a:p>
        </p:txBody>
      </p:sp>
      <p:sp>
        <p:nvSpPr>
          <p:cNvPr id="18" name="card-21"/>
          <p:cNvSpPr/>
          <p:nvPr/>
        </p:nvSpPr>
        <p:spPr>
          <a:xfrm>
            <a:off x="548640" y="4434840"/>
            <a:ext cx="1645920" cy="777240"/>
          </a:xfrm>
          <a:prstGeom prst="roundRect">
            <a:avLst>
              <a:gd name="adj" fmla="val 14118"/>
            </a:avLst>
          </a:prstGeom>
          <a:solidFill>
            <a:schemeClr val="tx1"/>
          </a:solidFill>
          <a:ln w="12700">
            <a:solidFill>
              <a:schemeClr val="tx1"/>
            </a:solidFill>
            <a:prstDash val="solid"/>
          </a:ln>
        </p:spPr>
      </p:sp>
      <p:sp>
        <p:nvSpPr>
          <p:cNvPr id="19" name="chain-22"/>
          <p:cNvSpPr txBox="1"/>
          <p:nvPr/>
        </p:nvSpPr>
        <p:spPr>
          <a:xfrm>
            <a:off x="548640" y="4434840"/>
            <a:ext cx="1645920" cy="777240"/>
          </a:xfrm>
          <a:prstGeom prst="rect">
            <a:avLst/>
          </a:prstGeom>
          <a:noFill/>
          <a:ln/>
        </p:spPr>
        <p:txBody>
          <a:bodyPr wrap="square" lIns="635" tIns="635" rIns="635" bIns="635" rtlCol="0" anchor="ctr"/>
          <a:lstStyle/>
          <a:p>
            <a:pPr algn="ctr" indent="0" marL="0">
              <a:buNone/>
            </a:pPr>
            <a:r>
              <a:rPr lang="en-US" sz="1200" b="1" dirty="0">
                <a:solidFill>
                  <a:schemeClr val="bg1"/>
                </a:solidFill>
              </a:rPr>
              <a:t>AI agent</a:t>
            </a:r>
            <a:endParaRPr lang="en-US" sz="1200" dirty="0"/>
          </a:p>
        </p:txBody>
      </p:sp>
      <p:sp>
        <p:nvSpPr>
          <p:cNvPr id="20" name="arrow-23"/>
          <p:cNvSpPr/>
          <p:nvPr/>
        </p:nvSpPr>
        <p:spPr>
          <a:xfrm>
            <a:off x="2231136" y="4727448"/>
            <a:ext cx="164592" cy="201168"/>
          </a:xfrm>
          <a:prstGeom prst="rightArrow">
            <a:avLst/>
          </a:prstGeom>
          <a:solidFill>
            <a:schemeClr val="accent4"/>
          </a:solidFill>
          <a:ln w="12700">
            <a:solidFill>
              <a:schemeClr val="accent4"/>
            </a:solidFill>
            <a:prstDash val="solid"/>
          </a:ln>
        </p:spPr>
      </p:sp>
      <p:sp>
        <p:nvSpPr>
          <p:cNvPr id="21" name="card-24"/>
          <p:cNvSpPr/>
          <p:nvPr/>
        </p:nvSpPr>
        <p:spPr>
          <a:xfrm>
            <a:off x="2432304" y="4434840"/>
            <a:ext cx="1645920" cy="777240"/>
          </a:xfrm>
          <a:prstGeom prst="roundRect">
            <a:avLst>
              <a:gd name="adj" fmla="val 14118"/>
            </a:avLst>
          </a:prstGeom>
          <a:solidFill>
            <a:schemeClr val="bg2"/>
          </a:solidFill>
          <a:ln w="12700">
            <a:solidFill>
              <a:schemeClr val="bg2"/>
            </a:solidFill>
            <a:prstDash val="solid"/>
          </a:ln>
        </p:spPr>
      </p:sp>
      <p:sp>
        <p:nvSpPr>
          <p:cNvPr id="22" name="chain-25"/>
          <p:cNvSpPr txBox="1"/>
          <p:nvPr/>
        </p:nvSpPr>
        <p:spPr>
          <a:xfrm>
            <a:off x="2432304" y="4434840"/>
            <a:ext cx="1645920" cy="777240"/>
          </a:xfrm>
          <a:prstGeom prst="rect">
            <a:avLst/>
          </a:prstGeom>
          <a:noFill/>
          <a:ln/>
        </p:spPr>
        <p:txBody>
          <a:bodyPr wrap="square" lIns="635" tIns="635" rIns="635" bIns="635" rtlCol="0" anchor="ctr"/>
          <a:lstStyle/>
          <a:p>
            <a:pPr algn="ctr" indent="0" marL="0">
              <a:buNone/>
            </a:pPr>
            <a:r>
              <a:rPr lang="en-US" sz="1200" dirty="0">
                <a:solidFill>
                  <a:schemeClr val="tx1"/>
                </a:solidFill>
              </a:rPr>
              <a:t>Entitlements</a:t>
            </a:r>
            <a:endParaRPr lang="en-US" sz="1200" dirty="0"/>
          </a:p>
        </p:txBody>
      </p:sp>
      <p:sp>
        <p:nvSpPr>
          <p:cNvPr id="23" name="arrow-26"/>
          <p:cNvSpPr/>
          <p:nvPr/>
        </p:nvSpPr>
        <p:spPr>
          <a:xfrm>
            <a:off x="4114800" y="4727448"/>
            <a:ext cx="164592" cy="201168"/>
          </a:xfrm>
          <a:prstGeom prst="rightArrow">
            <a:avLst/>
          </a:prstGeom>
          <a:solidFill>
            <a:schemeClr val="accent4"/>
          </a:solidFill>
          <a:ln w="12700">
            <a:solidFill>
              <a:schemeClr val="accent4"/>
            </a:solidFill>
            <a:prstDash val="solid"/>
          </a:ln>
        </p:spPr>
      </p:sp>
      <p:sp>
        <p:nvSpPr>
          <p:cNvPr id="24" name="card-27"/>
          <p:cNvSpPr/>
          <p:nvPr/>
        </p:nvSpPr>
        <p:spPr>
          <a:xfrm>
            <a:off x="4315968" y="4434840"/>
            <a:ext cx="1645920" cy="777240"/>
          </a:xfrm>
          <a:prstGeom prst="roundRect">
            <a:avLst>
              <a:gd name="adj" fmla="val 14118"/>
            </a:avLst>
          </a:prstGeom>
          <a:solidFill>
            <a:schemeClr val="bg2"/>
          </a:solidFill>
          <a:ln w="12700">
            <a:solidFill>
              <a:schemeClr val="bg2"/>
            </a:solidFill>
            <a:prstDash val="solid"/>
          </a:ln>
        </p:spPr>
      </p:sp>
      <p:sp>
        <p:nvSpPr>
          <p:cNvPr id="25" name="chain-28"/>
          <p:cNvSpPr txBox="1"/>
          <p:nvPr/>
        </p:nvSpPr>
        <p:spPr>
          <a:xfrm>
            <a:off x="4315968" y="4434840"/>
            <a:ext cx="1645920" cy="777240"/>
          </a:xfrm>
          <a:prstGeom prst="rect">
            <a:avLst/>
          </a:prstGeom>
          <a:noFill/>
          <a:ln/>
        </p:spPr>
        <p:txBody>
          <a:bodyPr wrap="square" lIns="635" tIns="635" rIns="635" bIns="635" rtlCol="0" anchor="ctr"/>
          <a:lstStyle/>
          <a:p>
            <a:pPr algn="ctr" indent="0" marL="0">
              <a:buNone/>
            </a:pPr>
            <a:r>
              <a:rPr lang="en-US" sz="1200" dirty="0">
                <a:solidFill>
                  <a:schemeClr val="tx1"/>
                </a:solidFill>
              </a:rPr>
              <a:t>Declared purpose + SoD</a:t>
            </a:r>
            <a:endParaRPr lang="en-US" sz="1200" dirty="0"/>
          </a:p>
        </p:txBody>
      </p:sp>
      <p:sp>
        <p:nvSpPr>
          <p:cNvPr id="26" name="arrow-29"/>
          <p:cNvSpPr/>
          <p:nvPr/>
        </p:nvSpPr>
        <p:spPr>
          <a:xfrm>
            <a:off x="5998464" y="4727448"/>
            <a:ext cx="164592" cy="201168"/>
          </a:xfrm>
          <a:prstGeom prst="rightArrow">
            <a:avLst/>
          </a:prstGeom>
          <a:solidFill>
            <a:schemeClr val="accent4"/>
          </a:solidFill>
          <a:ln w="12700">
            <a:solidFill>
              <a:schemeClr val="accent4"/>
            </a:solidFill>
            <a:prstDash val="solid"/>
          </a:ln>
        </p:spPr>
      </p:sp>
      <p:sp>
        <p:nvSpPr>
          <p:cNvPr id="27" name="card-30"/>
          <p:cNvSpPr/>
          <p:nvPr/>
        </p:nvSpPr>
        <p:spPr>
          <a:xfrm>
            <a:off x="6199632" y="4434840"/>
            <a:ext cx="1645920" cy="777240"/>
          </a:xfrm>
          <a:prstGeom prst="roundRect">
            <a:avLst>
              <a:gd name="adj" fmla="val 14118"/>
            </a:avLst>
          </a:prstGeom>
          <a:solidFill>
            <a:schemeClr val="bg2"/>
          </a:solidFill>
          <a:ln w="12700">
            <a:solidFill>
              <a:schemeClr val="bg2"/>
            </a:solidFill>
            <a:prstDash val="solid"/>
          </a:ln>
        </p:spPr>
      </p:sp>
      <p:sp>
        <p:nvSpPr>
          <p:cNvPr id="28" name="chain-31"/>
          <p:cNvSpPr txBox="1"/>
          <p:nvPr/>
        </p:nvSpPr>
        <p:spPr>
          <a:xfrm>
            <a:off x="6199632" y="4434840"/>
            <a:ext cx="1645920" cy="777240"/>
          </a:xfrm>
          <a:prstGeom prst="rect">
            <a:avLst/>
          </a:prstGeom>
          <a:noFill/>
          <a:ln/>
        </p:spPr>
        <p:txBody>
          <a:bodyPr wrap="square" lIns="635" tIns="635" rIns="635" bIns="635" rtlCol="0" anchor="ctr"/>
          <a:lstStyle/>
          <a:p>
            <a:pPr algn="ctr" indent="0" marL="0">
              <a:buNone/>
            </a:pPr>
            <a:r>
              <a:rPr lang="en-US" sz="1200" dirty="0">
                <a:solidFill>
                  <a:schemeClr val="tx1"/>
                </a:solidFill>
              </a:rPr>
              <a:t>Owner</a:t>
            </a:r>
            <a:endParaRPr lang="en-US" sz="1200" dirty="0"/>
          </a:p>
        </p:txBody>
      </p:sp>
      <p:sp>
        <p:nvSpPr>
          <p:cNvPr id="29" name="arrow-32"/>
          <p:cNvSpPr/>
          <p:nvPr/>
        </p:nvSpPr>
        <p:spPr>
          <a:xfrm>
            <a:off x="7882128" y="4727448"/>
            <a:ext cx="164592" cy="201168"/>
          </a:xfrm>
          <a:prstGeom prst="rightArrow">
            <a:avLst/>
          </a:prstGeom>
          <a:solidFill>
            <a:schemeClr val="accent4"/>
          </a:solidFill>
          <a:ln w="12700">
            <a:solidFill>
              <a:schemeClr val="accent4"/>
            </a:solidFill>
            <a:prstDash val="solid"/>
          </a:ln>
        </p:spPr>
      </p:sp>
      <p:sp>
        <p:nvSpPr>
          <p:cNvPr id="30" name="card-33"/>
          <p:cNvSpPr/>
          <p:nvPr/>
        </p:nvSpPr>
        <p:spPr>
          <a:xfrm>
            <a:off x="8083296" y="4434840"/>
            <a:ext cx="1645920" cy="777240"/>
          </a:xfrm>
          <a:prstGeom prst="roundRect">
            <a:avLst>
              <a:gd name="adj" fmla="val 14118"/>
            </a:avLst>
          </a:prstGeom>
          <a:solidFill>
            <a:schemeClr val="bg2"/>
          </a:solidFill>
          <a:ln w="12700">
            <a:solidFill>
              <a:schemeClr val="bg2"/>
            </a:solidFill>
            <a:prstDash val="solid"/>
          </a:ln>
        </p:spPr>
      </p:sp>
      <p:sp>
        <p:nvSpPr>
          <p:cNvPr id="31" name="chain-34"/>
          <p:cNvSpPr txBox="1"/>
          <p:nvPr/>
        </p:nvSpPr>
        <p:spPr>
          <a:xfrm>
            <a:off x="8083296" y="4434840"/>
            <a:ext cx="1645920" cy="777240"/>
          </a:xfrm>
          <a:prstGeom prst="rect">
            <a:avLst/>
          </a:prstGeom>
          <a:noFill/>
          <a:ln/>
        </p:spPr>
        <p:txBody>
          <a:bodyPr wrap="square" lIns="635" tIns="635" rIns="635" bIns="635" rtlCol="0" anchor="ctr"/>
          <a:lstStyle/>
          <a:p>
            <a:pPr algn="ctr" indent="0" marL="0">
              <a:buNone/>
            </a:pPr>
            <a:r>
              <a:rPr lang="en-US" sz="1200" dirty="0">
                <a:solidFill>
                  <a:schemeClr val="tx1"/>
                </a:solidFill>
              </a:rPr>
              <a:t>Owner lifecycle</a:t>
            </a:r>
            <a:endParaRPr lang="en-US" sz="1200" dirty="0"/>
          </a:p>
        </p:txBody>
      </p:sp>
      <p:sp>
        <p:nvSpPr>
          <p:cNvPr id="32" name="arrow-35"/>
          <p:cNvSpPr/>
          <p:nvPr/>
        </p:nvSpPr>
        <p:spPr>
          <a:xfrm>
            <a:off x="9765792" y="4727448"/>
            <a:ext cx="164592" cy="201168"/>
          </a:xfrm>
          <a:prstGeom prst="rightArrow">
            <a:avLst/>
          </a:prstGeom>
          <a:solidFill>
            <a:schemeClr val="accent4"/>
          </a:solidFill>
          <a:ln w="12700">
            <a:solidFill>
              <a:schemeClr val="accent4"/>
            </a:solidFill>
            <a:prstDash val="solid"/>
          </a:ln>
        </p:spPr>
      </p:sp>
      <p:sp>
        <p:nvSpPr>
          <p:cNvPr id="33" name="card-36"/>
          <p:cNvSpPr/>
          <p:nvPr/>
        </p:nvSpPr>
        <p:spPr>
          <a:xfrm>
            <a:off x="9966960" y="4434840"/>
            <a:ext cx="1645920" cy="777240"/>
          </a:xfrm>
          <a:prstGeom prst="roundRect">
            <a:avLst>
              <a:gd name="adj" fmla="val 14118"/>
            </a:avLst>
          </a:prstGeom>
          <a:solidFill>
            <a:schemeClr val="bg2"/>
          </a:solidFill>
          <a:ln w="12700">
            <a:solidFill>
              <a:schemeClr val="bg2"/>
            </a:solidFill>
            <a:prstDash val="solid"/>
          </a:ln>
        </p:spPr>
      </p:sp>
      <p:sp>
        <p:nvSpPr>
          <p:cNvPr id="34" name="chain-37"/>
          <p:cNvSpPr txBox="1"/>
          <p:nvPr/>
        </p:nvSpPr>
        <p:spPr>
          <a:xfrm>
            <a:off x="9966960" y="4434840"/>
            <a:ext cx="1645920" cy="777240"/>
          </a:xfrm>
          <a:prstGeom prst="rect">
            <a:avLst/>
          </a:prstGeom>
          <a:noFill/>
          <a:ln/>
        </p:spPr>
        <p:txBody>
          <a:bodyPr wrap="square" lIns="635" tIns="635" rIns="635" bIns="635" rtlCol="0" anchor="ctr"/>
          <a:lstStyle/>
          <a:p>
            <a:pPr algn="ctr" indent="0" marL="0">
              <a:buNone/>
            </a:pPr>
            <a:r>
              <a:rPr lang="en-US" sz="1200" dirty="0">
                <a:solidFill>
                  <a:schemeClr val="tx1"/>
                </a:solidFill>
              </a:rPr>
              <a:t>Owner's manager</a:t>
            </a:r>
            <a:endParaRPr lang="en-US" sz="1200" dirty="0"/>
          </a:p>
        </p:txBody>
      </p:sp>
      <p:sp>
        <p:nvSpPr>
          <p:cNvPr id="35" name="root"/>
          <p:cNvSpPr txBox="1"/>
          <p:nvPr/>
        </p:nvSpPr>
        <p:spPr>
          <a:xfrm>
            <a:off x="548640" y="5486400"/>
            <a:ext cx="10972800" cy="457200"/>
          </a:xfrm>
          <a:prstGeom prst="rect">
            <a:avLst/>
          </a:prstGeom>
          <a:noFill/>
          <a:ln/>
        </p:spPr>
        <p:txBody>
          <a:bodyPr wrap="square" lIns="0" tIns="0" rIns="0" bIns="0" rtlCol="0" anchor="ctr"/>
          <a:lstStyle/>
          <a:p>
            <a:pPr indent="0" marL="0">
              <a:buNone/>
            </a:pPr>
            <a:r>
              <a:rPr lang="en-US" sz="1500" dirty="0">
                <a:solidFill>
                  <a:schemeClr val="tx1"/>
                </a:solidFill>
              </a:rPr>
              <a:t>No single ISC screen shows this chain, so no one checks it.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Agents inherit the gaps humans already have</a:t>
            </a:r>
            <a:endParaRPr lang="en-US" sz="3400" dirty="0"/>
          </a:p>
        </p:txBody>
      </p:sp>
      <p:sp>
        <p:nvSpPr>
          <p:cNvPr id="3" name="card-38"/>
          <p:cNvSpPr/>
          <p:nvPr/>
        </p:nvSpPr>
        <p:spPr>
          <a:xfrm>
            <a:off x="548640" y="1508760"/>
            <a:ext cx="2606040" cy="3246120"/>
          </a:xfrm>
          <a:prstGeom prst="roundRect">
            <a:avLst>
              <a:gd name="adj" fmla="val 4211"/>
            </a:avLst>
          </a:prstGeom>
          <a:solidFill>
            <a:schemeClr val="bg2"/>
          </a:solidFill>
          <a:ln w="12700">
            <a:solidFill>
              <a:schemeClr val="bg2"/>
            </a:solidFill>
            <a:prstDash val="solid"/>
          </a:ln>
        </p:spPr>
      </p:sp>
      <p:sp>
        <p:nvSpPr>
          <p:cNvPr id="4" name="stat-39"/>
          <p:cNvSpPr txBox="1"/>
          <p:nvPr/>
        </p:nvSpPr>
        <p:spPr>
          <a:xfrm>
            <a:off x="777240" y="1783080"/>
            <a:ext cx="2148840" cy="118872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0</a:t>
            </a:r>
            <a:endParaRPr lang="en-US" sz="6000" dirty="0"/>
          </a:p>
        </p:txBody>
      </p:sp>
      <p:sp>
        <p:nvSpPr>
          <p:cNvPr id="5" name="statlbl-40"/>
          <p:cNvSpPr txBox="1"/>
          <p:nvPr/>
        </p:nvSpPr>
        <p:spPr>
          <a:xfrm>
            <a:off x="777240" y="3017520"/>
            <a:ext cx="2148840" cy="822960"/>
          </a:xfrm>
          <a:prstGeom prst="rect">
            <a:avLst/>
          </a:prstGeom>
          <a:noFill/>
          <a:ln/>
        </p:spPr>
        <p:txBody>
          <a:bodyPr wrap="square" lIns="0" tIns="0" rIns="0" bIns="0" rtlCol="0" anchor="t"/>
          <a:lstStyle/>
          <a:p>
            <a:pPr indent="0" marL="0">
              <a:buNone/>
            </a:pPr>
            <a:r>
              <a:rPr lang="en-US" sz="1700" b="1" dirty="0">
                <a:solidFill>
                  <a:schemeClr val="tx1"/>
                </a:solidFill>
              </a:rPr>
              <a:t>ownerless objects</a:t>
            </a:r>
            <a:endParaRPr lang="en-US" sz="1700" dirty="0"/>
          </a:p>
        </p:txBody>
      </p:sp>
      <p:sp>
        <p:nvSpPr>
          <p:cNvPr id="6" name="statsub-41"/>
          <p:cNvSpPr txBox="1"/>
          <p:nvPr/>
        </p:nvSpPr>
        <p:spPr>
          <a:xfrm>
            <a:off x="777240" y="3886200"/>
            <a:ext cx="2148840" cy="777240"/>
          </a:xfrm>
          <a:prstGeom prst="rect">
            <a:avLst/>
          </a:prstGeom>
          <a:noFill/>
          <a:ln/>
        </p:spPr>
        <p:txBody>
          <a:bodyPr wrap="square" lIns="0" tIns="0" rIns="0" bIns="0" rtlCol="0" anchor="t"/>
          <a:lstStyle/>
          <a:p>
            <a:pPr indent="0" marL="0">
              <a:buNone/>
            </a:pPr>
            <a:r>
              <a:rPr lang="en-US" sz="1400" dirty="0">
                <a:solidFill>
                  <a:schemeClr val="tx2"/>
                </a:solidFill>
              </a:rPr>
              <a:t>The standard check passes</a:t>
            </a:r>
            <a:endParaRPr lang="en-US" sz="1400" dirty="0"/>
          </a:p>
        </p:txBody>
      </p:sp>
      <p:sp>
        <p:nvSpPr>
          <p:cNvPr id="7" name="card-42"/>
          <p:cNvSpPr/>
          <p:nvPr/>
        </p:nvSpPr>
        <p:spPr>
          <a:xfrm>
            <a:off x="3383280" y="1508760"/>
            <a:ext cx="2606040" cy="3246120"/>
          </a:xfrm>
          <a:prstGeom prst="roundRect">
            <a:avLst>
              <a:gd name="adj" fmla="val 4211"/>
            </a:avLst>
          </a:prstGeom>
          <a:solidFill>
            <a:schemeClr val="bg2"/>
          </a:solidFill>
          <a:ln w="12700">
            <a:solidFill>
              <a:schemeClr val="bg2"/>
            </a:solidFill>
            <a:prstDash val="solid"/>
          </a:ln>
        </p:spPr>
      </p:sp>
      <p:sp>
        <p:nvSpPr>
          <p:cNvPr id="8" name="stat-43"/>
          <p:cNvSpPr txBox="1"/>
          <p:nvPr/>
        </p:nvSpPr>
        <p:spPr>
          <a:xfrm>
            <a:off x="3611880" y="1783080"/>
            <a:ext cx="2148840" cy="1188720"/>
          </a:xfrm>
          <a:prstGeom prst="rect">
            <a:avLst/>
          </a:prstGeom>
          <a:noFill/>
          <a:ln/>
        </p:spPr>
        <p:txBody>
          <a:bodyPr wrap="square" lIns="0" tIns="0" rIns="0" bIns="0" rtlCol="0" anchor="ctr"/>
          <a:lstStyle/>
          <a:p>
            <a:pPr indent="0" marL="0">
              <a:buNone/>
            </a:pPr>
            <a:r>
              <a:rPr lang="en-US" sz="6000" b="1" dirty="0">
                <a:solidFill>
                  <a:schemeClr val="accent2"/>
                </a:solidFill>
                <a:latin typeface="Cambria" pitchFamily="34" charset="0"/>
                <a:ea typeface="Cambria" pitchFamily="34" charset="-122"/>
                <a:cs typeface="Cambria" pitchFamily="34" charset="-120"/>
              </a:rPr>
              <a:t>96%</a:t>
            </a:r>
            <a:endParaRPr lang="en-US" sz="6000" dirty="0"/>
          </a:p>
        </p:txBody>
      </p:sp>
      <p:sp>
        <p:nvSpPr>
          <p:cNvPr id="9" name="statlbl-44"/>
          <p:cNvSpPr txBox="1"/>
          <p:nvPr/>
        </p:nvSpPr>
        <p:spPr>
          <a:xfrm>
            <a:off x="3611880" y="3017520"/>
            <a:ext cx="2148840" cy="822960"/>
          </a:xfrm>
          <a:prstGeom prst="rect">
            <a:avLst/>
          </a:prstGeom>
          <a:noFill/>
          <a:ln/>
        </p:spPr>
        <p:txBody>
          <a:bodyPr wrap="square" lIns="0" tIns="0" rIns="0" bIns="0" rtlCol="0" anchor="t"/>
          <a:lstStyle/>
          <a:p>
            <a:pPr indent="0" marL="0">
              <a:buNone/>
            </a:pPr>
            <a:r>
              <a:rPr lang="en-US" sz="1700" b="1" dirty="0">
                <a:solidFill>
                  <a:schemeClr val="tx1"/>
                </a:solidFill>
              </a:rPr>
              <a:t>of governed objects owned by one person</a:t>
            </a:r>
            <a:endParaRPr lang="en-US" sz="1700" dirty="0"/>
          </a:p>
        </p:txBody>
      </p:sp>
      <p:sp>
        <p:nvSpPr>
          <p:cNvPr id="10" name="statsub-45"/>
          <p:cNvSpPr txBox="1"/>
          <p:nvPr/>
        </p:nvSpPr>
        <p:spPr>
          <a:xfrm>
            <a:off x="3611880" y="3886200"/>
            <a:ext cx="2148840" cy="777240"/>
          </a:xfrm>
          <a:prstGeom prst="rect">
            <a:avLst/>
          </a:prstGeom>
          <a:noFill/>
          <a:ln/>
        </p:spPr>
        <p:txBody>
          <a:bodyPr wrap="square" lIns="0" tIns="0" rIns="0" bIns="0" rtlCol="0" anchor="t"/>
          <a:lstStyle/>
          <a:p>
            <a:pPr indent="0" marL="0">
              <a:buNone/>
            </a:pPr>
            <a:r>
              <a:rPr lang="en-US" sz="1400" dirty="0">
                <a:solidFill>
                  <a:schemeClr val="tx2"/>
                </a:solidFill>
              </a:rPr>
              <a:t>45 of 47, and she has no manager</a:t>
            </a:r>
            <a:endParaRPr lang="en-US" sz="1400" dirty="0"/>
          </a:p>
        </p:txBody>
      </p:sp>
      <p:sp>
        <p:nvSpPr>
          <p:cNvPr id="11" name="card-46"/>
          <p:cNvSpPr/>
          <p:nvPr/>
        </p:nvSpPr>
        <p:spPr>
          <a:xfrm>
            <a:off x="6217920" y="1508760"/>
            <a:ext cx="2606040" cy="3246120"/>
          </a:xfrm>
          <a:prstGeom prst="roundRect">
            <a:avLst>
              <a:gd name="adj" fmla="val 4211"/>
            </a:avLst>
          </a:prstGeom>
          <a:solidFill>
            <a:schemeClr val="bg2"/>
          </a:solidFill>
          <a:ln w="12700">
            <a:solidFill>
              <a:schemeClr val="bg2"/>
            </a:solidFill>
            <a:prstDash val="solid"/>
          </a:ln>
        </p:spPr>
      </p:sp>
      <p:sp>
        <p:nvSpPr>
          <p:cNvPr id="12" name="stat-47"/>
          <p:cNvSpPr txBox="1"/>
          <p:nvPr/>
        </p:nvSpPr>
        <p:spPr>
          <a:xfrm>
            <a:off x="6446520" y="1783080"/>
            <a:ext cx="2148840" cy="1188720"/>
          </a:xfrm>
          <a:prstGeom prst="rect">
            <a:avLst/>
          </a:prstGeom>
          <a:noFill/>
          <a:ln/>
        </p:spPr>
        <p:txBody>
          <a:bodyPr wrap="square" lIns="0" tIns="0" rIns="0" bIns="0" rtlCol="0" anchor="ctr"/>
          <a:lstStyle/>
          <a:p>
            <a:pPr indent="0" marL="0">
              <a:buNone/>
            </a:pPr>
            <a:r>
              <a:rPr lang="en-US" sz="6000" b="1" dirty="0">
                <a:solidFill>
                  <a:schemeClr val="accent2"/>
                </a:solidFill>
                <a:latin typeface="Cambria" pitchFamily="34" charset="0"/>
                <a:ea typeface="Cambria" pitchFamily="34" charset="-122"/>
                <a:cs typeface="Cambria" pitchFamily="34" charset="-120"/>
              </a:rPr>
              <a:t>9 / 9</a:t>
            </a:r>
            <a:endParaRPr lang="en-US" sz="6000" dirty="0"/>
          </a:p>
        </p:txBody>
      </p:sp>
      <p:sp>
        <p:nvSpPr>
          <p:cNvPr id="13" name="statlbl-48"/>
          <p:cNvSpPr txBox="1"/>
          <p:nvPr/>
        </p:nvSpPr>
        <p:spPr>
          <a:xfrm>
            <a:off x="6446520" y="3017520"/>
            <a:ext cx="2148840" cy="822960"/>
          </a:xfrm>
          <a:prstGeom prst="rect">
            <a:avLst/>
          </a:prstGeom>
          <a:noFill/>
          <a:ln/>
        </p:spPr>
        <p:txBody>
          <a:bodyPr wrap="square" lIns="0" tIns="0" rIns="0" bIns="0" rtlCol="0" anchor="t"/>
          <a:lstStyle/>
          <a:p>
            <a:pPr indent="0" marL="0">
              <a:buNone/>
            </a:pPr>
            <a:r>
              <a:rPr lang="en-US" sz="1700" b="1" dirty="0">
                <a:solidFill>
                  <a:schemeClr val="tx1"/>
                </a:solidFill>
              </a:rPr>
              <a:t>leavers still have enabled accounts</a:t>
            </a:r>
            <a:endParaRPr lang="en-US" sz="1700" dirty="0"/>
          </a:p>
        </p:txBody>
      </p:sp>
      <p:sp>
        <p:nvSpPr>
          <p:cNvPr id="14" name="statsub-49"/>
          <p:cNvSpPr txBox="1"/>
          <p:nvPr/>
        </p:nvSpPr>
        <p:spPr>
          <a:xfrm>
            <a:off x="6446520" y="3886200"/>
            <a:ext cx="2148840" cy="777240"/>
          </a:xfrm>
          <a:prstGeom prst="rect">
            <a:avLst/>
          </a:prstGeom>
          <a:noFill/>
          <a:ln/>
        </p:spPr>
        <p:txBody>
          <a:bodyPr wrap="square" lIns="0" tIns="0" rIns="0" bIns="0" rtlCol="0" anchor="t"/>
          <a:lstStyle/>
          <a:p>
            <a:pPr indent="0" marL="0">
              <a:buNone/>
            </a:pPr>
            <a:r>
              <a:rPr lang="en-US" sz="1400" dirty="0">
                <a:solidFill>
                  <a:schemeClr val="tx2"/>
                </a:solidFill>
              </a:rPr>
              <a:t>27 accounts, incl. AD with password never expires</a:t>
            </a:r>
            <a:endParaRPr lang="en-US" sz="1400" dirty="0"/>
          </a:p>
        </p:txBody>
      </p:sp>
      <p:sp>
        <p:nvSpPr>
          <p:cNvPr id="15" name="card-50"/>
          <p:cNvSpPr/>
          <p:nvPr/>
        </p:nvSpPr>
        <p:spPr>
          <a:xfrm>
            <a:off x="9052560" y="1508760"/>
            <a:ext cx="2606040" cy="3246120"/>
          </a:xfrm>
          <a:prstGeom prst="roundRect">
            <a:avLst>
              <a:gd name="adj" fmla="val 4211"/>
            </a:avLst>
          </a:prstGeom>
          <a:solidFill>
            <a:schemeClr val="bg2"/>
          </a:solidFill>
          <a:ln w="12700">
            <a:solidFill>
              <a:schemeClr val="bg2"/>
            </a:solidFill>
            <a:prstDash val="solid"/>
          </a:ln>
        </p:spPr>
      </p:sp>
      <p:sp>
        <p:nvSpPr>
          <p:cNvPr id="16" name="stat-51"/>
          <p:cNvSpPr txBox="1"/>
          <p:nvPr/>
        </p:nvSpPr>
        <p:spPr>
          <a:xfrm>
            <a:off x="9281160" y="1783080"/>
            <a:ext cx="2148840" cy="1188720"/>
          </a:xfrm>
          <a:prstGeom prst="rect">
            <a:avLst/>
          </a:prstGeom>
          <a:noFill/>
          <a:ln/>
        </p:spPr>
        <p:txBody>
          <a:bodyPr wrap="square" lIns="0" tIns="0" rIns="0" bIns="0" rtlCol="0" anchor="ctr"/>
          <a:lstStyle/>
          <a:p>
            <a:pPr indent="0" marL="0">
              <a:buNone/>
            </a:pPr>
            <a:r>
              <a:rPr lang="en-US" sz="6000" b="1" dirty="0">
                <a:solidFill>
                  <a:schemeClr val="accent3"/>
                </a:solidFill>
                <a:latin typeface="Cambria" pitchFamily="34" charset="0"/>
                <a:ea typeface="Cambria" pitchFamily="34" charset="-122"/>
                <a:cs typeface="Cambria" pitchFamily="34" charset="-120"/>
              </a:rPr>
              <a:t>65%</a:t>
            </a:r>
            <a:endParaRPr lang="en-US" sz="6000" dirty="0"/>
          </a:p>
        </p:txBody>
      </p:sp>
      <p:sp>
        <p:nvSpPr>
          <p:cNvPr id="17" name="statlbl-52"/>
          <p:cNvSpPr txBox="1"/>
          <p:nvPr/>
        </p:nvSpPr>
        <p:spPr>
          <a:xfrm>
            <a:off x="9281160" y="3017520"/>
            <a:ext cx="2148840" cy="822960"/>
          </a:xfrm>
          <a:prstGeom prst="rect">
            <a:avLst/>
          </a:prstGeom>
          <a:noFill/>
          <a:ln/>
        </p:spPr>
        <p:txBody>
          <a:bodyPr wrap="square" lIns="0" tIns="0" rIns="0" bIns="0" rtlCol="0" anchor="t"/>
          <a:lstStyle/>
          <a:p>
            <a:pPr indent="0" marL="0">
              <a:buNone/>
            </a:pPr>
            <a:r>
              <a:rPr lang="en-US" sz="1700" b="1" dirty="0">
                <a:solidFill>
                  <a:schemeClr val="tx1"/>
                </a:solidFill>
              </a:rPr>
              <a:t>of privileged grants are direct</a:t>
            </a:r>
            <a:endParaRPr lang="en-US" sz="1700" dirty="0"/>
          </a:p>
        </p:txBody>
      </p:sp>
      <p:sp>
        <p:nvSpPr>
          <p:cNvPr id="18" name="statsub-53"/>
          <p:cNvSpPr txBox="1"/>
          <p:nvPr/>
        </p:nvSpPr>
        <p:spPr>
          <a:xfrm>
            <a:off x="9281160" y="3886200"/>
            <a:ext cx="2148840" cy="777240"/>
          </a:xfrm>
          <a:prstGeom prst="rect">
            <a:avLst/>
          </a:prstGeom>
          <a:noFill/>
          <a:ln/>
        </p:spPr>
        <p:txBody>
          <a:bodyPr wrap="square" lIns="0" tIns="0" rIns="0" bIns="0" rtlCol="0" anchor="t"/>
          <a:lstStyle/>
          <a:p>
            <a:pPr indent="0" marL="0">
              <a:buNone/>
            </a:pPr>
            <a:r>
              <a:rPr lang="en-US" sz="1400" dirty="0">
                <a:solidFill>
                  <a:schemeClr val="tx2"/>
                </a:solidFill>
              </a:rPr>
              <a:t>33 of 51, with no role or access profile</a:t>
            </a:r>
            <a:endParaRPr lang="en-US" sz="1400" dirty="0"/>
          </a:p>
        </p:txBody>
      </p:sp>
      <p:sp>
        <p:nvSpPr>
          <p:cNvPr id="19" name="measured"/>
          <p:cNvSpPr txBox="1"/>
          <p:nvPr/>
        </p:nvSpPr>
        <p:spPr>
          <a:xfrm>
            <a:off x="548640" y="5029200"/>
            <a:ext cx="10972800" cy="365760"/>
          </a:xfrm>
          <a:prstGeom prst="rect">
            <a:avLst/>
          </a:prstGeom>
          <a:noFill/>
          <a:ln/>
        </p:spPr>
        <p:txBody>
          <a:bodyPr wrap="square" lIns="0" tIns="0" rIns="0" bIns="0" rtlCol="0" anchor="ctr"/>
          <a:lstStyle/>
          <a:p>
            <a:pPr indent="0" marL="0">
              <a:buNone/>
            </a:pPr>
            <a:r>
              <a:rPr lang="en-US" sz="1300" i="1" dirty="0">
                <a:solidFill>
                  <a:schemeClr val="accent4"/>
                </a:solidFill>
              </a:rPr>
              <a:t>Measured live in the demo tenant today. We dropped two claims the data didn't support.</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An MCP server that walks the chain</a:t>
            </a:r>
            <a:endParaRPr lang="en-US" sz="3400" dirty="0"/>
          </a:p>
        </p:txBody>
      </p:sp>
      <p:sp>
        <p:nvSpPr>
          <p:cNvPr id="3" name="card-54"/>
          <p:cNvSpPr/>
          <p:nvPr/>
        </p:nvSpPr>
        <p:spPr>
          <a:xfrm>
            <a:off x="548640" y="1508760"/>
            <a:ext cx="2606040" cy="2926080"/>
          </a:xfrm>
          <a:prstGeom prst="roundRect">
            <a:avLst>
              <a:gd name="adj" fmla="val 4211"/>
            </a:avLst>
          </a:prstGeom>
          <a:solidFill>
            <a:schemeClr val="bg2"/>
          </a:solidFill>
          <a:ln w="12700">
            <a:solidFill>
              <a:schemeClr val="bg2"/>
            </a:solidFill>
            <a:prstDash val="solid"/>
          </a:ln>
        </p:spPr>
      </p:sp>
      <p:sp>
        <p:nvSpPr>
          <p:cNvPr id="4" name="num-55"/>
          <p:cNvSpPr/>
          <p:nvPr/>
        </p:nvSpPr>
        <p:spPr>
          <a:xfrm>
            <a:off x="777240" y="1737360"/>
            <a:ext cx="502920" cy="502920"/>
          </a:xfrm>
          <a:prstGeom prst="ellipse">
            <a:avLst/>
          </a:prstGeom>
          <a:solidFill>
            <a:schemeClr val="accent5"/>
          </a:solidFill>
          <a:ln w="12700">
            <a:solidFill>
              <a:schemeClr val="accent5"/>
            </a:solidFill>
            <a:prstDash val="solid"/>
          </a:ln>
        </p:spPr>
      </p:sp>
      <p:sp>
        <p:nvSpPr>
          <p:cNvPr id="5" name="numtxt-56"/>
          <p:cNvSpPr txBox="1"/>
          <p:nvPr/>
        </p:nvSpPr>
        <p:spPr>
          <a:xfrm>
            <a:off x="777240" y="17373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caph-57"/>
          <p:cNvSpPr txBox="1"/>
          <p:nvPr/>
        </p:nvSpPr>
        <p:spPr>
          <a:xfrm>
            <a:off x="1417320" y="1737360"/>
            <a:ext cx="1600200" cy="50292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Explain</a:t>
            </a:r>
            <a:endParaRPr lang="en-US" sz="2400" dirty="0"/>
          </a:p>
        </p:txBody>
      </p:sp>
      <p:sp>
        <p:nvSpPr>
          <p:cNvPr id="7" name="capq-58"/>
          <p:cNvSpPr txBox="1"/>
          <p:nvPr/>
        </p:nvSpPr>
        <p:spPr>
          <a:xfrm>
            <a:off x="777240" y="2468880"/>
            <a:ext cx="2148840" cy="1188720"/>
          </a:xfrm>
          <a:prstGeom prst="rect">
            <a:avLst/>
          </a:prstGeom>
          <a:noFill/>
          <a:ln/>
        </p:spPr>
        <p:txBody>
          <a:bodyPr wrap="square" lIns="0" tIns="0" rIns="0" bIns="0" rtlCol="0" anchor="t"/>
          <a:lstStyle/>
          <a:p>
            <a:pPr indent="0" marL="0">
              <a:buNone/>
            </a:pPr>
            <a:r>
              <a:rPr lang="en-US" sz="1600" i="1" dirty="0">
                <a:solidFill>
                  <a:schemeClr val="tx1"/>
                </a:solidFill>
              </a:rPr>
              <a:t>"Why does invoice-bot have AccountsReceivable?"</a:t>
            </a:r>
            <a:endParaRPr lang="en-US" sz="1600" dirty="0"/>
          </a:p>
        </p:txBody>
      </p:sp>
      <p:sp>
        <p:nvSpPr>
          <p:cNvPr id="8" name="capt-59"/>
          <p:cNvSpPr txBox="1"/>
          <p:nvPr/>
        </p:nvSpPr>
        <p:spPr>
          <a:xfrm>
            <a:off x="731520" y="3794760"/>
            <a:ext cx="2286000" cy="411480"/>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explain_access</a:t>
            </a:r>
            <a:endParaRPr lang="en-US" sz="1100" dirty="0"/>
          </a:p>
        </p:txBody>
      </p:sp>
      <p:sp>
        <p:nvSpPr>
          <p:cNvPr id="9" name="card-60"/>
          <p:cNvSpPr/>
          <p:nvPr/>
        </p:nvSpPr>
        <p:spPr>
          <a:xfrm>
            <a:off x="3383280" y="1508760"/>
            <a:ext cx="2606040" cy="2926080"/>
          </a:xfrm>
          <a:prstGeom prst="roundRect">
            <a:avLst>
              <a:gd name="adj" fmla="val 4211"/>
            </a:avLst>
          </a:prstGeom>
          <a:solidFill>
            <a:schemeClr val="bg2"/>
          </a:solidFill>
          <a:ln w="12700">
            <a:solidFill>
              <a:schemeClr val="bg2"/>
            </a:solidFill>
            <a:prstDash val="solid"/>
          </a:ln>
        </p:spPr>
      </p:sp>
      <p:sp>
        <p:nvSpPr>
          <p:cNvPr id="10" name="num-61"/>
          <p:cNvSpPr/>
          <p:nvPr/>
        </p:nvSpPr>
        <p:spPr>
          <a:xfrm>
            <a:off x="3611880" y="1737360"/>
            <a:ext cx="502920" cy="502920"/>
          </a:xfrm>
          <a:prstGeom prst="ellipse">
            <a:avLst/>
          </a:prstGeom>
          <a:solidFill>
            <a:schemeClr val="accent3"/>
          </a:solidFill>
          <a:ln w="12700">
            <a:solidFill>
              <a:schemeClr val="accent3"/>
            </a:solidFill>
            <a:prstDash val="solid"/>
          </a:ln>
        </p:spPr>
      </p:sp>
      <p:sp>
        <p:nvSpPr>
          <p:cNvPr id="11" name="numtxt-62"/>
          <p:cNvSpPr txBox="1"/>
          <p:nvPr/>
        </p:nvSpPr>
        <p:spPr>
          <a:xfrm>
            <a:off x="3611880" y="17373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caph-63"/>
          <p:cNvSpPr txBox="1"/>
          <p:nvPr/>
        </p:nvSpPr>
        <p:spPr>
          <a:xfrm>
            <a:off x="4251960" y="1737360"/>
            <a:ext cx="1600200" cy="50292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Expose</a:t>
            </a:r>
            <a:endParaRPr lang="en-US" sz="2400" dirty="0"/>
          </a:p>
        </p:txBody>
      </p:sp>
      <p:sp>
        <p:nvSpPr>
          <p:cNvPr id="13" name="capq-64"/>
          <p:cNvSpPr txBox="1"/>
          <p:nvPr/>
        </p:nvSpPr>
        <p:spPr>
          <a:xfrm>
            <a:off x="3611880" y="2468880"/>
            <a:ext cx="2148840" cy="1188720"/>
          </a:xfrm>
          <a:prstGeom prst="rect">
            <a:avLst/>
          </a:prstGeom>
          <a:noFill/>
          <a:ln/>
        </p:spPr>
        <p:txBody>
          <a:bodyPr wrap="square" lIns="0" tIns="0" rIns="0" bIns="0" rtlCol="0" anchor="t"/>
          <a:lstStyle/>
          <a:p>
            <a:pPr indent="0" marL="0">
              <a:buNone/>
            </a:pPr>
            <a:r>
              <a:rPr lang="en-US" sz="1600" i="1" dirty="0">
                <a:solidFill>
                  <a:schemeClr val="tx1"/>
                </a:solidFill>
              </a:rPr>
              <a:t>"Is our governance actually healthy?"</a:t>
            </a:r>
            <a:endParaRPr lang="en-US" sz="1600" dirty="0"/>
          </a:p>
        </p:txBody>
      </p:sp>
      <p:sp>
        <p:nvSpPr>
          <p:cNvPr id="14" name="capt-65"/>
          <p:cNvSpPr txBox="1"/>
          <p:nvPr/>
        </p:nvSpPr>
        <p:spPr>
          <a:xfrm>
            <a:off x="3566160" y="3794760"/>
            <a:ext cx="2286000" cy="411480"/>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find_accountability_gaps</a:t>
            </a:r>
            <a:endParaRPr lang="en-US" sz="1100" dirty="0"/>
          </a:p>
        </p:txBody>
      </p:sp>
      <p:sp>
        <p:nvSpPr>
          <p:cNvPr id="15" name="card-66"/>
          <p:cNvSpPr/>
          <p:nvPr/>
        </p:nvSpPr>
        <p:spPr>
          <a:xfrm>
            <a:off x="6217920" y="1508760"/>
            <a:ext cx="2606040" cy="2926080"/>
          </a:xfrm>
          <a:prstGeom prst="roundRect">
            <a:avLst>
              <a:gd name="adj" fmla="val 4211"/>
            </a:avLst>
          </a:prstGeom>
          <a:solidFill>
            <a:schemeClr val="bg2"/>
          </a:solidFill>
          <a:ln w="12700">
            <a:solidFill>
              <a:schemeClr val="bg2"/>
            </a:solidFill>
            <a:prstDash val="solid"/>
          </a:ln>
        </p:spPr>
      </p:sp>
      <p:sp>
        <p:nvSpPr>
          <p:cNvPr id="16" name="num-67"/>
          <p:cNvSpPr/>
          <p:nvPr/>
        </p:nvSpPr>
        <p:spPr>
          <a:xfrm>
            <a:off x="6446520" y="1737360"/>
            <a:ext cx="502920" cy="502920"/>
          </a:xfrm>
          <a:prstGeom prst="ellipse">
            <a:avLst/>
          </a:prstGeom>
          <a:solidFill>
            <a:schemeClr val="accent2"/>
          </a:solidFill>
          <a:ln w="12700">
            <a:solidFill>
              <a:schemeClr val="accent2"/>
            </a:solidFill>
            <a:prstDash val="solid"/>
          </a:ln>
        </p:spPr>
      </p:sp>
      <p:sp>
        <p:nvSpPr>
          <p:cNvPr id="17" name="numtxt-68"/>
          <p:cNvSpPr txBox="1"/>
          <p:nvPr/>
        </p:nvSpPr>
        <p:spPr>
          <a:xfrm>
            <a:off x="6446520" y="17373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caph-69"/>
          <p:cNvSpPr txBox="1"/>
          <p:nvPr/>
        </p:nvSpPr>
        <p:spPr>
          <a:xfrm>
            <a:off x="7086600" y="1737360"/>
            <a:ext cx="1600200" cy="50292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Detect</a:t>
            </a:r>
            <a:endParaRPr lang="en-US" sz="2400" dirty="0"/>
          </a:p>
        </p:txBody>
      </p:sp>
      <p:sp>
        <p:nvSpPr>
          <p:cNvPr id="19" name="capq-70"/>
          <p:cNvSpPr txBox="1"/>
          <p:nvPr/>
        </p:nvSpPr>
        <p:spPr>
          <a:xfrm>
            <a:off x="6446520" y="2468880"/>
            <a:ext cx="2148840" cy="1188720"/>
          </a:xfrm>
          <a:prstGeom prst="rect">
            <a:avLst/>
          </a:prstGeom>
          <a:noFill/>
          <a:ln/>
        </p:spPr>
        <p:txBody>
          <a:bodyPr wrap="square" lIns="0" tIns="0" rIns="0" bIns="0" rtlCol="0" anchor="t"/>
          <a:lstStyle/>
          <a:p>
            <a:pPr indent="0" marL="0">
              <a:buNone/>
            </a:pPr>
            <a:r>
              <a:rPr lang="en-US" sz="1600" i="1" dirty="0">
                <a:solidFill>
                  <a:schemeClr val="tx1"/>
                </a:solidFill>
              </a:rPr>
              <a:t>"Are any of our AI agents rogue?"</a:t>
            </a:r>
            <a:endParaRPr lang="en-US" sz="1600" dirty="0"/>
          </a:p>
        </p:txBody>
      </p:sp>
      <p:sp>
        <p:nvSpPr>
          <p:cNvPr id="20" name="capt-71"/>
          <p:cNvSpPr txBox="1"/>
          <p:nvPr/>
        </p:nvSpPr>
        <p:spPr>
          <a:xfrm>
            <a:off x="6400800" y="3794760"/>
            <a:ext cx="2286000" cy="411480"/>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detect_rogue_agents</a:t>
            </a:r>
            <a:endParaRPr lang="en-US" sz="1100" dirty="0"/>
          </a:p>
        </p:txBody>
      </p:sp>
      <p:sp>
        <p:nvSpPr>
          <p:cNvPr id="21" name="card-72"/>
          <p:cNvSpPr/>
          <p:nvPr/>
        </p:nvSpPr>
        <p:spPr>
          <a:xfrm>
            <a:off x="9052560" y="1508760"/>
            <a:ext cx="2606040" cy="2926080"/>
          </a:xfrm>
          <a:prstGeom prst="roundRect">
            <a:avLst>
              <a:gd name="adj" fmla="val 4211"/>
            </a:avLst>
          </a:prstGeom>
          <a:solidFill>
            <a:schemeClr val="bg2"/>
          </a:solidFill>
          <a:ln w="12700">
            <a:solidFill>
              <a:schemeClr val="bg2"/>
            </a:solidFill>
            <a:prstDash val="solid"/>
          </a:ln>
        </p:spPr>
      </p:sp>
      <p:sp>
        <p:nvSpPr>
          <p:cNvPr id="22" name="num-73"/>
          <p:cNvSpPr/>
          <p:nvPr/>
        </p:nvSpPr>
        <p:spPr>
          <a:xfrm>
            <a:off x="9281160" y="1737360"/>
            <a:ext cx="502920" cy="502920"/>
          </a:xfrm>
          <a:prstGeom prst="ellipse">
            <a:avLst/>
          </a:prstGeom>
          <a:solidFill>
            <a:schemeClr val="accent1"/>
          </a:solidFill>
          <a:ln w="12700">
            <a:solidFill>
              <a:schemeClr val="accent1"/>
            </a:solidFill>
            <a:prstDash val="solid"/>
          </a:ln>
        </p:spPr>
      </p:sp>
      <p:sp>
        <p:nvSpPr>
          <p:cNvPr id="23" name="numtxt-74"/>
          <p:cNvSpPr txBox="1"/>
          <p:nvPr/>
        </p:nvSpPr>
        <p:spPr>
          <a:xfrm>
            <a:off x="9281160" y="17373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caph-75"/>
          <p:cNvSpPr txBox="1"/>
          <p:nvPr/>
        </p:nvSpPr>
        <p:spPr>
          <a:xfrm>
            <a:off x="9921240" y="1737360"/>
            <a:ext cx="1600200" cy="50292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Contain</a:t>
            </a:r>
            <a:endParaRPr lang="en-US" sz="2400" dirty="0"/>
          </a:p>
        </p:txBody>
      </p:sp>
      <p:sp>
        <p:nvSpPr>
          <p:cNvPr id="25" name="capq-76"/>
          <p:cNvSpPr txBox="1"/>
          <p:nvPr/>
        </p:nvSpPr>
        <p:spPr>
          <a:xfrm>
            <a:off x="9281160" y="2468880"/>
            <a:ext cx="2148840" cy="1188720"/>
          </a:xfrm>
          <a:prstGeom prst="rect">
            <a:avLst/>
          </a:prstGeom>
          <a:noFill/>
          <a:ln/>
        </p:spPr>
        <p:txBody>
          <a:bodyPr wrap="square" lIns="0" tIns="0" rIns="0" bIns="0" rtlCol="0" anchor="t"/>
          <a:lstStyle/>
          <a:p>
            <a:pPr indent="0" marL="0">
              <a:buNone/>
            </a:pPr>
            <a:r>
              <a:rPr lang="en-US" sz="1600" i="1" dirty="0">
                <a:solidFill>
                  <a:schemeClr val="tx1"/>
                </a:solidFill>
              </a:rPr>
              <a:t>"Quarantine invoice-bot. (Human confirms.)"</a:t>
            </a:r>
            <a:endParaRPr lang="en-US" sz="1600" dirty="0"/>
          </a:p>
        </p:txBody>
      </p:sp>
      <p:sp>
        <p:nvSpPr>
          <p:cNvPr id="26" name="capt-77"/>
          <p:cNvSpPr txBox="1"/>
          <p:nvPr/>
        </p:nvSpPr>
        <p:spPr>
          <a:xfrm>
            <a:off x="9235440" y="3794760"/>
            <a:ext cx="2286000" cy="411480"/>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quarantine_agent</a:t>
            </a:r>
            <a:endParaRPr lang="en-US" sz="1100" dirty="0"/>
          </a:p>
        </p:txBody>
      </p:sp>
      <p:sp>
        <p:nvSpPr>
          <p:cNvPr id="27" name="evidence"/>
          <p:cNvSpPr txBox="1"/>
          <p:nvPr/>
        </p:nvSpPr>
        <p:spPr>
          <a:xfrm>
            <a:off x="548640" y="4754880"/>
            <a:ext cx="11064240" cy="548640"/>
          </a:xfrm>
          <a:prstGeom prst="rect">
            <a:avLst/>
          </a:prstGeom>
          <a:noFill/>
          <a:ln/>
        </p:spPr>
        <p:txBody>
          <a:bodyPr wrap="square" lIns="0" tIns="0" rIns="0" bIns="0" rtlCol="0" anchor="ctr"/>
          <a:lstStyle/>
          <a:p>
            <a:pPr indent="0" marL="0">
              <a:buNone/>
            </a:pPr>
            <a:r>
              <a:rPr lang="en-US" sz="1500" b="1" dirty="0">
                <a:solidFill>
                  <a:schemeClr val="tx1"/>
                </a:solidFill>
              </a:rPr>
              <a:t>Every answer carries evidence[]</a:t>
            </a:r>
            <a:pPr indent="0" marL="0">
              <a:buNone/>
            </a:pPr>
            <a:r>
              <a:rPr lang="en-US" sz="1500" dirty="0">
                <a:solidFill>
                  <a:schemeClr val="tx2"/>
                </a:solidFill>
              </a:rPr>
              <a:t> (ISC object IDs and timestamps), so an auditor can replay every claim.</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How the MCP server works</a:t>
            </a:r>
            <a:endParaRPr lang="en-US" sz="3400" dirty="0"/>
          </a:p>
        </p:txBody>
      </p:sp>
      <p:sp>
        <p:nvSpPr>
          <p:cNvPr id="3" name="card-78"/>
          <p:cNvSpPr/>
          <p:nvPr/>
        </p:nvSpPr>
        <p:spPr>
          <a:xfrm>
            <a:off x="548640" y="1371600"/>
            <a:ext cx="2514600" cy="1051560"/>
          </a:xfrm>
          <a:prstGeom prst="roundRect">
            <a:avLst>
              <a:gd name="adj" fmla="val 10435"/>
            </a:avLst>
          </a:prstGeom>
          <a:solidFill>
            <a:schemeClr val="bg2"/>
          </a:solidFill>
          <a:ln w="12700">
            <a:solidFill>
              <a:schemeClr val="bg2"/>
            </a:solidFill>
            <a:prstDash val="solid"/>
          </a:ln>
        </p:spPr>
      </p:sp>
      <p:sp>
        <p:nvSpPr>
          <p:cNvPr id="4" name="arch-79"/>
          <p:cNvSpPr txBox="1"/>
          <p:nvPr/>
        </p:nvSpPr>
        <p:spPr>
          <a:xfrm>
            <a:off x="713232" y="1371600"/>
            <a:ext cx="2240280" cy="1051560"/>
          </a:xfrm>
          <a:prstGeom prst="rect">
            <a:avLst/>
          </a:prstGeom>
          <a:noFill/>
          <a:ln/>
        </p:spPr>
        <p:txBody>
          <a:bodyPr wrap="square" lIns="0" tIns="0" rIns="0" bIns="0" rtlCol="0" anchor="ctr"/>
          <a:lstStyle/>
          <a:p>
            <a:pPr indent="0" marL="0">
              <a:buNone/>
            </a:pPr>
            <a:r>
              <a:rPr lang="en-US" sz="1500" b="1" dirty="0">
                <a:solidFill>
                  <a:schemeClr val="tx1"/>
                </a:solidFill>
              </a:rPr>
              <a:t>You ask in plain English</a:t>
            </a:r>
            <a:endParaRPr lang="en-US" sz="1500" dirty="0"/>
          </a:p>
          <a:p>
            <a:pPr indent="0" marL="0">
              <a:buNone/>
            </a:pPr>
            <a:r>
              <a:rPr lang="en-US" sz="1200" dirty="0">
                <a:solidFill>
                  <a:schemeClr val="tx2"/>
                </a:solidFill>
              </a:rPr>
              <a:t>"Are any agents rogue?"</a:t>
            </a:r>
            <a:endParaRPr lang="en-US" sz="1500" dirty="0"/>
          </a:p>
        </p:txBody>
      </p:sp>
      <p:sp>
        <p:nvSpPr>
          <p:cNvPr id="5" name="aarrow-80"/>
          <p:cNvSpPr/>
          <p:nvPr/>
        </p:nvSpPr>
        <p:spPr>
          <a:xfrm>
            <a:off x="3127248" y="1783080"/>
            <a:ext cx="201168" cy="237744"/>
          </a:xfrm>
          <a:prstGeom prst="rightArrow">
            <a:avLst/>
          </a:prstGeom>
          <a:solidFill>
            <a:schemeClr val="accent4"/>
          </a:solidFill>
          <a:ln w="12700">
            <a:solidFill>
              <a:schemeClr val="accent4"/>
            </a:solidFill>
            <a:prstDash val="solid"/>
          </a:ln>
        </p:spPr>
      </p:sp>
      <p:sp>
        <p:nvSpPr>
          <p:cNvPr id="6" name="card-81"/>
          <p:cNvSpPr/>
          <p:nvPr/>
        </p:nvSpPr>
        <p:spPr>
          <a:xfrm>
            <a:off x="3401568" y="1371600"/>
            <a:ext cx="2514600" cy="1051560"/>
          </a:xfrm>
          <a:prstGeom prst="roundRect">
            <a:avLst>
              <a:gd name="adj" fmla="val 10435"/>
            </a:avLst>
          </a:prstGeom>
          <a:solidFill>
            <a:schemeClr val="bg2"/>
          </a:solidFill>
          <a:ln w="12700">
            <a:solidFill>
              <a:schemeClr val="bg2"/>
            </a:solidFill>
            <a:prstDash val="solid"/>
          </a:ln>
        </p:spPr>
      </p:sp>
      <p:sp>
        <p:nvSpPr>
          <p:cNvPr id="7" name="arch-82"/>
          <p:cNvSpPr txBox="1"/>
          <p:nvPr/>
        </p:nvSpPr>
        <p:spPr>
          <a:xfrm>
            <a:off x="3566160" y="1371600"/>
            <a:ext cx="2240280" cy="1051560"/>
          </a:xfrm>
          <a:prstGeom prst="rect">
            <a:avLst/>
          </a:prstGeom>
          <a:noFill/>
          <a:ln/>
        </p:spPr>
        <p:txBody>
          <a:bodyPr wrap="square" lIns="0" tIns="0" rIns="0" bIns="0" rtlCol="0" anchor="ctr"/>
          <a:lstStyle/>
          <a:p>
            <a:pPr indent="0" marL="0">
              <a:buNone/>
            </a:pPr>
            <a:r>
              <a:rPr lang="en-US" sz="1500" b="1" dirty="0">
                <a:solidFill>
                  <a:schemeClr val="tx1"/>
                </a:solidFill>
              </a:rPr>
              <a:t>Claude picks a tool</a:t>
            </a:r>
            <a:endParaRPr lang="en-US" sz="1500" dirty="0"/>
          </a:p>
          <a:p>
            <a:pPr indent="0" marL="0">
              <a:buNone/>
            </a:pPr>
            <a:r>
              <a:rPr lang="en-US" sz="1200" dirty="0">
                <a:solidFill>
                  <a:schemeClr val="tx2"/>
                </a:solidFill>
              </a:rPr>
              <a:t>Any MCP client: Claude Code, Desktop, Cursor</a:t>
            </a:r>
            <a:endParaRPr lang="en-US" sz="1500" dirty="0"/>
          </a:p>
        </p:txBody>
      </p:sp>
      <p:sp>
        <p:nvSpPr>
          <p:cNvPr id="8" name="aarrow-83"/>
          <p:cNvSpPr/>
          <p:nvPr/>
        </p:nvSpPr>
        <p:spPr>
          <a:xfrm>
            <a:off x="5980176" y="1783080"/>
            <a:ext cx="201168" cy="237744"/>
          </a:xfrm>
          <a:prstGeom prst="rightArrow">
            <a:avLst/>
          </a:prstGeom>
          <a:solidFill>
            <a:schemeClr val="accent4"/>
          </a:solidFill>
          <a:ln w="12700">
            <a:solidFill>
              <a:schemeClr val="accent4"/>
            </a:solidFill>
            <a:prstDash val="solid"/>
          </a:ln>
        </p:spPr>
      </p:sp>
      <p:sp>
        <p:nvSpPr>
          <p:cNvPr id="9" name="card-84"/>
          <p:cNvSpPr/>
          <p:nvPr/>
        </p:nvSpPr>
        <p:spPr>
          <a:xfrm>
            <a:off x="6254496" y="1371600"/>
            <a:ext cx="2514600" cy="1051560"/>
          </a:xfrm>
          <a:prstGeom prst="roundRect">
            <a:avLst>
              <a:gd name="adj" fmla="val 10435"/>
            </a:avLst>
          </a:prstGeom>
          <a:solidFill>
            <a:schemeClr val="tx1"/>
          </a:solidFill>
          <a:ln w="12700">
            <a:solidFill>
              <a:schemeClr val="tx1"/>
            </a:solidFill>
            <a:prstDash val="solid"/>
          </a:ln>
        </p:spPr>
      </p:sp>
      <p:sp>
        <p:nvSpPr>
          <p:cNvPr id="10" name="arch-85"/>
          <p:cNvSpPr txBox="1"/>
          <p:nvPr/>
        </p:nvSpPr>
        <p:spPr>
          <a:xfrm>
            <a:off x="6419088" y="1371600"/>
            <a:ext cx="2240280" cy="1051560"/>
          </a:xfrm>
          <a:prstGeom prst="rect">
            <a:avLst/>
          </a:prstGeom>
          <a:noFill/>
          <a:ln/>
        </p:spPr>
        <p:txBody>
          <a:bodyPr wrap="square" lIns="0" tIns="0" rIns="0" bIns="0" rtlCol="0" anchor="ctr"/>
          <a:lstStyle/>
          <a:p>
            <a:pPr indent="0" marL="0">
              <a:buNone/>
            </a:pPr>
            <a:r>
              <a:rPr lang="en-US" sz="1500" b="1" dirty="0">
                <a:solidFill>
                  <a:schemeClr val="bg1"/>
                </a:solidFill>
              </a:rPr>
              <a:t>MCP server</a:t>
            </a:r>
            <a:endParaRPr lang="en-US" sz="1500" dirty="0"/>
          </a:p>
          <a:p>
            <a:pPr indent="0" marL="0">
              <a:buNone/>
            </a:pPr>
            <a:r>
              <a:rPr lang="en-US" sz="1200" dirty="0">
                <a:solidFill>
                  <a:srgbClr val="C7D0DC"/>
                </a:solidFill>
              </a:rPr>
              <a:t>Python FastMCP, runs locally over stdio</a:t>
            </a:r>
            <a:endParaRPr lang="en-US" sz="1500" dirty="0"/>
          </a:p>
        </p:txBody>
      </p:sp>
      <p:sp>
        <p:nvSpPr>
          <p:cNvPr id="11" name="aarrow-86"/>
          <p:cNvSpPr/>
          <p:nvPr/>
        </p:nvSpPr>
        <p:spPr>
          <a:xfrm>
            <a:off x="8833104" y="1783080"/>
            <a:ext cx="201168" cy="237744"/>
          </a:xfrm>
          <a:prstGeom prst="rightArrow">
            <a:avLst/>
          </a:prstGeom>
          <a:solidFill>
            <a:schemeClr val="accent4"/>
          </a:solidFill>
          <a:ln w="12700">
            <a:solidFill>
              <a:schemeClr val="accent4"/>
            </a:solidFill>
            <a:prstDash val="solid"/>
          </a:ln>
        </p:spPr>
      </p:sp>
      <p:sp>
        <p:nvSpPr>
          <p:cNvPr id="12" name="card-87"/>
          <p:cNvSpPr/>
          <p:nvPr/>
        </p:nvSpPr>
        <p:spPr>
          <a:xfrm>
            <a:off x="9107424" y="1371600"/>
            <a:ext cx="2514600" cy="1051560"/>
          </a:xfrm>
          <a:prstGeom prst="roundRect">
            <a:avLst>
              <a:gd name="adj" fmla="val 10435"/>
            </a:avLst>
          </a:prstGeom>
          <a:solidFill>
            <a:schemeClr val="bg2"/>
          </a:solidFill>
          <a:ln w="12700">
            <a:solidFill>
              <a:schemeClr val="bg2"/>
            </a:solidFill>
            <a:prstDash val="solid"/>
          </a:ln>
        </p:spPr>
      </p:sp>
      <p:sp>
        <p:nvSpPr>
          <p:cNvPr id="13" name="arch-88"/>
          <p:cNvSpPr txBox="1"/>
          <p:nvPr/>
        </p:nvSpPr>
        <p:spPr>
          <a:xfrm>
            <a:off x="9272016" y="1371600"/>
            <a:ext cx="2240280" cy="1051560"/>
          </a:xfrm>
          <a:prstGeom prst="rect">
            <a:avLst/>
          </a:prstGeom>
          <a:noFill/>
          <a:ln/>
        </p:spPr>
        <p:txBody>
          <a:bodyPr wrap="square" lIns="0" tIns="0" rIns="0" bIns="0" rtlCol="0" anchor="ctr"/>
          <a:lstStyle/>
          <a:p>
            <a:pPr indent="0" marL="0">
              <a:buNone/>
            </a:pPr>
            <a:r>
              <a:rPr lang="en-US" sz="1500" b="1" dirty="0">
                <a:solidFill>
                  <a:schemeClr val="tx1"/>
                </a:solidFill>
              </a:rPr>
              <a:t>SailPoint ISC APIs</a:t>
            </a:r>
            <a:endParaRPr lang="en-US" sz="1500" dirty="0"/>
          </a:p>
          <a:p>
            <a:pPr indent="0" marL="0">
              <a:buNone/>
            </a:pPr>
            <a:r>
              <a:rPr lang="en-US" sz="1200" dirty="0">
                <a:solidFill>
                  <a:schemeClr val="tx2"/>
                </a:solidFill>
              </a:rPr>
              <a:t>Plus the agent's target app for containment</a:t>
            </a:r>
            <a:endParaRPr lang="en-US" sz="1500" dirty="0"/>
          </a:p>
        </p:txBody>
      </p:sp>
      <p:graphicFrame>
        <p:nvGraphicFramePr>
          <p:cNvPr id="6" name="tools-table"/>
          <p:cNvGraphicFramePr>
            <a:graphicFrameLocks noGrp="1"/>
          </p:cNvGraphicFramePr>
          <p:nvPr>
            <p:extLst>
              <p:ext uri="{D42A27DB-BD31-4B8C-83A1-F6EECF244321}">
                <p14:modId xmlns:p14="http://schemas.microsoft.com/office/powerpoint/2010/main" val="1579011935"/>
              </p:ext>
            </p:extLst>
          </p:nvPr>
        </p:nvGraphicFramePr>
        <p:xfrm>
          <a:off x="548640" y="2697480"/>
          <a:ext cx="11094415" cy="914400"/>
        </p:xfrm>
        <a:graphic>
          <a:graphicData uri="http://schemas.openxmlformats.org/drawingml/2006/table">
            <a:tbl>
              <a:tblPr/>
              <a:tblGrid>
                <a:gridCol w="2743200"/>
                <a:gridCol w="2331720"/>
                <a:gridCol w="3657600"/>
                <a:gridCol w="2359152"/>
              </a:tblGrid>
              <a:tr h="438912">
                <a:tc>
                  <a:txBody>
                    <a:bodyPr/>
                    <a:lstStyle/>
                    <a:p>
                      <a:pPr indent="0" marL="0">
                        <a:buNone/>
                      </a:pPr>
                      <a:r>
                        <a:rPr lang="en-US" sz="1300" b="1" dirty="0">
                          <a:solidFill>
                            <a:srgbClr val="FFFFFF"/>
                          </a:solidFill>
                        </a:rPr>
                        <a:t>Tool</a:t>
                      </a:r>
                      <a:endParaRPr lang="en-US" sz="1300" dirty="0"/>
                    </a:p>
                  </a:txBody>
                  <a:tcPr marL="109728"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726"/>
                    </a:solidFill>
                  </a:tcPr>
                </a:tc>
                <a:tc>
                  <a:txBody>
                    <a:bodyPr/>
                    <a:lstStyle/>
                    <a:p>
                      <a:pPr indent="0" marL="0">
                        <a:buNone/>
                      </a:pPr>
                      <a:r>
                        <a:rPr lang="en-US" sz="1300" b="1" dirty="0">
                          <a:solidFill>
                            <a:srgbClr val="FFFFFF"/>
                          </a:solidFill>
                        </a:rPr>
                        <a:t>Answers</a:t>
                      </a:r>
                      <a:endParaRPr lang="en-US" sz="1300" dirty="0"/>
                    </a:p>
                  </a:txBody>
                  <a:tcPr marL="109728"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726"/>
                    </a:solidFill>
                  </a:tcPr>
                </a:tc>
                <a:tc>
                  <a:txBody>
                    <a:bodyPr/>
                    <a:lstStyle/>
                    <a:p>
                      <a:pPr indent="0" marL="0">
                        <a:buNone/>
                      </a:pPr>
                      <a:r>
                        <a:rPr lang="en-US" sz="1300" b="1" dirty="0">
                          <a:solidFill>
                            <a:srgbClr val="FFFFFF"/>
                          </a:solidFill>
                        </a:rPr>
                        <a:t>ISC APIs it calls</a:t>
                      </a:r>
                      <a:endParaRPr lang="en-US" sz="1300" dirty="0"/>
                    </a:p>
                  </a:txBody>
                  <a:tcPr marL="109728"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726"/>
                    </a:solidFill>
                  </a:tcPr>
                </a:tc>
                <a:tc>
                  <a:txBody>
                    <a:bodyPr/>
                    <a:lstStyle/>
                    <a:p>
                      <a:pPr indent="0" marL="0">
                        <a:buNone/>
                      </a:pPr>
                      <a:r>
                        <a:rPr lang="en-US" sz="1300" b="1" dirty="0">
                          <a:solidFill>
                            <a:srgbClr val="FFFFFF"/>
                          </a:solidFill>
                        </a:rPr>
                        <a:t>Mode</a:t>
                      </a:r>
                      <a:endParaRPr lang="en-US" sz="1300" dirty="0"/>
                    </a:p>
                  </a:txBody>
                  <a:tcPr marL="109728"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726"/>
                    </a:solidFill>
                  </a:tcPr>
                </a:tc>
              </a:tr>
              <a:tr h="438912">
                <a:tc>
                  <a:txBody>
                    <a:bodyPr/>
                    <a:lstStyle/>
                    <a:p>
                      <a:pPr indent="0" marL="0">
                        <a:buNone/>
                      </a:pPr>
                      <a:r>
                        <a:rPr lang="en-US" sz="1200" b="1" dirty="0">
                          <a:solidFill>
                            <a:srgbClr val="0E1726"/>
                          </a:solidFill>
                          <a:latin typeface="Courier New" pitchFamily="34" charset="0"/>
                          <a:ea typeface="Courier New" pitchFamily="34" charset="-122"/>
                          <a:cs typeface="Courier New" pitchFamily="34" charset="-120"/>
                        </a:rPr>
                        <a:t>search_identities</a:t>
                      </a:r>
                      <a:endParaRPr lang="en-US" sz="1200" dirty="0">
                        <a:latin typeface="Courier New" charset="0"/>
                        <a:ea typeface="Courier New" charset="0"/>
                        <a:cs typeface="Courier New" charset="0"/>
                      </a:endParaRPr>
                    </a:p>
                  </a:txBody>
                  <a:tcPr marL="109728"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0E1726"/>
                          </a:solidFill>
                        </a:rPr>
                        <a:t>Who is this person?</a:t>
                      </a:r>
                      <a:endParaRPr lang="en-US" sz="1300" dirty="0"/>
                    </a:p>
                  </a:txBody>
                  <a:tcPr marL="109728"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0E1726"/>
                          </a:solidFill>
                        </a:rPr>
                        <a:t>/v3/search</a:t>
                      </a:r>
                      <a:endParaRPr lang="en-US" sz="1300" dirty="0"/>
                    </a:p>
                  </a:txBody>
                  <a:tcPr marL="109728"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b="1" dirty="0">
                          <a:solidFill>
                            <a:srgbClr val="17B26A"/>
                          </a:solidFill>
                        </a:rPr>
                        <a:t>Read-only</a:t>
                      </a:r>
                      <a:endParaRPr lang="en-US" sz="1300" dirty="0"/>
                    </a:p>
                  </a:txBody>
                  <a:tcPr marL="109728"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E1726"/>
                          </a:solidFill>
                          <a:latin typeface="Courier New" pitchFamily="34" charset="0"/>
                          <a:ea typeface="Courier New" pitchFamily="34" charset="-122"/>
                          <a:cs typeface="Courier New" pitchFamily="34" charset="-120"/>
                        </a:rPr>
                        <a:t>explain_access</a:t>
                      </a:r>
                      <a:endParaRPr lang="en-US" sz="1200" dirty="0">
                        <a:latin typeface="Courier New" charset="0"/>
                        <a:ea typeface="Courier New" charset="0"/>
                        <a:cs typeface="Courier New" charset="0"/>
                      </a:endParaRPr>
                    </a:p>
                  </a:txBody>
                  <a:tcPr marL="109728"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0E1726"/>
                          </a:solidFill>
                        </a:rPr>
                        <a:t>Why does X have Y?</a:t>
                      </a:r>
                      <a:endParaRPr lang="en-US" sz="1300" dirty="0"/>
                    </a:p>
                  </a:txBody>
                  <a:tcPr marL="109728"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0E1726"/>
                          </a:solidFill>
                        </a:rPr>
                        <a:t>search, access-profiles, roles</a:t>
                      </a:r>
                      <a:endParaRPr lang="en-US" sz="1300" dirty="0"/>
                    </a:p>
                  </a:txBody>
                  <a:tcPr marL="109728"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b="1" dirty="0">
                          <a:solidFill>
                            <a:srgbClr val="17B26A"/>
                          </a:solidFill>
                        </a:rPr>
                        <a:t>Read-only</a:t>
                      </a:r>
                      <a:endParaRPr lang="en-US" sz="1300" dirty="0"/>
                    </a:p>
                  </a:txBody>
                  <a:tcPr marL="109728"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E1726"/>
                          </a:solidFill>
                          <a:latin typeface="Courier New" pitchFamily="34" charset="0"/>
                          <a:ea typeface="Courier New" pitchFamily="34" charset="-122"/>
                          <a:cs typeface="Courier New" pitchFamily="34" charset="-120"/>
                        </a:rPr>
                        <a:t>find_accountability_gaps</a:t>
                      </a:r>
                      <a:endParaRPr lang="en-US" sz="1200" dirty="0">
                        <a:latin typeface="Courier New" charset="0"/>
                        <a:ea typeface="Courier New" charset="0"/>
                        <a:cs typeface="Courier New" charset="0"/>
                      </a:endParaRPr>
                    </a:p>
                  </a:txBody>
                  <a:tcPr marL="109728"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0E1726"/>
                          </a:solidFill>
                        </a:rPr>
                        <a:t>Is governance healthy?</a:t>
                      </a:r>
                      <a:endParaRPr lang="en-US" sz="1300" dirty="0"/>
                    </a:p>
                  </a:txBody>
                  <a:tcPr marL="109728"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0E1726"/>
                          </a:solidFill>
                        </a:rPr>
                        <a:t>roles, access-profiles, sources, search</a:t>
                      </a:r>
                      <a:endParaRPr lang="en-US" sz="1300" dirty="0"/>
                    </a:p>
                  </a:txBody>
                  <a:tcPr marL="109728"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b="1" dirty="0">
                          <a:solidFill>
                            <a:srgbClr val="17B26A"/>
                          </a:solidFill>
                        </a:rPr>
                        <a:t>Read-only</a:t>
                      </a:r>
                      <a:endParaRPr lang="en-US" sz="1300" dirty="0"/>
                    </a:p>
                  </a:txBody>
                  <a:tcPr marL="109728"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E1726"/>
                          </a:solidFill>
                          <a:latin typeface="Courier New" pitchFamily="34" charset="0"/>
                          <a:ea typeface="Courier New" pitchFamily="34" charset="-122"/>
                          <a:cs typeface="Courier New" pitchFamily="34" charset="-120"/>
                        </a:rPr>
                        <a:t>detect_rogue_agents</a:t>
                      </a:r>
                      <a:endParaRPr lang="en-US" sz="1200" dirty="0">
                        <a:latin typeface="Courier New" charset="0"/>
                        <a:ea typeface="Courier New" charset="0"/>
                        <a:cs typeface="Courier New" charset="0"/>
                      </a:endParaRPr>
                    </a:p>
                  </a:txBody>
                  <a:tcPr marL="109728"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0E1726"/>
                          </a:solidFill>
                        </a:rPr>
                        <a:t>Is any agent rogue?</a:t>
                      </a:r>
                      <a:endParaRPr lang="en-US" sz="1300" dirty="0"/>
                    </a:p>
                  </a:txBody>
                  <a:tcPr marL="109728"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0E1726"/>
                          </a:solidFill>
                        </a:rPr>
                        <a:t>accounts, entitlements, sod-policies, search</a:t>
                      </a:r>
                      <a:endParaRPr lang="en-US" sz="1300" dirty="0"/>
                    </a:p>
                  </a:txBody>
                  <a:tcPr marL="109728"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b="1" dirty="0">
                          <a:solidFill>
                            <a:srgbClr val="17B26A"/>
                          </a:solidFill>
                        </a:rPr>
                        <a:t>Read-only</a:t>
                      </a:r>
                      <a:endParaRPr lang="en-US" sz="1300" dirty="0"/>
                    </a:p>
                  </a:txBody>
                  <a:tcPr marL="109728"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E1726"/>
                          </a:solidFill>
                          <a:latin typeface="Courier New" pitchFamily="34" charset="0"/>
                          <a:ea typeface="Courier New" pitchFamily="34" charset="-122"/>
                          <a:cs typeface="Courier New" pitchFamily="34" charset="-120"/>
                        </a:rPr>
                        <a:t>quarantine_agent</a:t>
                      </a:r>
                      <a:endParaRPr lang="en-US" sz="1200" dirty="0">
                        <a:latin typeface="Courier New" charset="0"/>
                        <a:ea typeface="Courier New" charset="0"/>
                        <a:cs typeface="Courier New" charset="0"/>
                      </a:endParaRPr>
                    </a:p>
                  </a:txBody>
                  <a:tcPr marL="109728"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0E1726"/>
                          </a:solidFill>
                        </a:rPr>
                        <a:t>Contain this agent</a:t>
                      </a:r>
                      <a:endParaRPr lang="en-US" sz="1300" dirty="0"/>
                    </a:p>
                  </a:txBody>
                  <a:tcPr marL="109728"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0E1726"/>
                          </a:solidFill>
                        </a:rPr>
                        <a:t>tagged-objects, plus the target app</a:t>
                      </a:r>
                      <a:endParaRPr lang="en-US" sz="1300" dirty="0"/>
                    </a:p>
                  </a:txBody>
                  <a:tcPr marL="109728"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b="1" dirty="0">
                          <a:solidFill>
                            <a:srgbClr val="E5484D"/>
                          </a:solidFill>
                        </a:rPr>
                        <a:t>Dry run, then token + human</a:t>
                      </a:r>
                      <a:endParaRPr lang="en-US" sz="1300" dirty="0"/>
                    </a:p>
                  </a:txBody>
                  <a:tcPr marL="109728"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15" name="mcp-foot"/>
          <p:cNvSpPr txBox="1"/>
          <p:nvPr/>
        </p:nvSpPr>
        <p:spPr>
          <a:xfrm>
            <a:off x="548640" y="5715000"/>
            <a:ext cx="11064240" cy="365760"/>
          </a:xfrm>
          <a:prstGeom prst="rect">
            <a:avLst/>
          </a:prstGeom>
          <a:noFill/>
          <a:ln/>
        </p:spPr>
        <p:txBody>
          <a:bodyPr wrap="square" lIns="0" tIns="0" rIns="0" bIns="0" rtlCol="0" anchor="ctr"/>
          <a:lstStyle/>
          <a:p>
            <a:pPr indent="0" marL="0">
              <a:buNone/>
            </a:pPr>
            <a:r>
              <a:rPr lang="en-US" sz="1300" i="1" dirty="0">
                <a:solidFill>
                  <a:schemeClr val="accent4"/>
                </a:solidFill>
              </a:rPr>
              <a:t>Credentials come from macOS Keychain or Windows Credential Manager. Every ISC call is logged with a correlation ID.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One rogue agent in a fleet of five</a:t>
            </a:r>
            <a:endParaRPr lang="en-US" sz="3400" dirty="0"/>
          </a:p>
        </p:txBody>
      </p:sp>
      <p:graphicFrame>
        <p:nvGraphicFramePr>
          <p:cNvPr id="3" name="fleet-chart" descr=""/>
          <p:cNvGraphicFramePr/>
          <p:nvPr/>
        </p:nvGraphicFramePr>
        <p:xfrm>
          <a:off x="548640" y="1417320"/>
          <a:ext cx="6126480" cy="4480560"/>
        </p:xfrm>
        <a:graphic xmlns:a="http://schemas.openxmlformats.org/drawingml/2006/main">
          <a:graphicData uri="http://schemas.openxmlformats.org/drawingml/2006/chart">
            <c:chart xmlns:c="http://schemas.openxmlformats.org/drawingml/2006/chart" r:id="rId1"/>
          </a:graphicData>
        </a:graphic>
      </p:graphicFrame>
      <p:sp>
        <p:nvSpPr>
          <p:cNvPr id="4" name="card-89"/>
          <p:cNvSpPr/>
          <p:nvPr/>
        </p:nvSpPr>
        <p:spPr>
          <a:xfrm>
            <a:off x="7086600" y="1417320"/>
            <a:ext cx="4553712" cy="4480560"/>
          </a:xfrm>
          <a:prstGeom prst="roundRect">
            <a:avLst>
              <a:gd name="adj" fmla="val 2449"/>
            </a:avLst>
          </a:prstGeom>
          <a:solidFill>
            <a:srgbClr val="FDECEC"/>
          </a:solidFill>
          <a:ln w="12700">
            <a:solidFill>
              <a:srgbClr val="FDECEC"/>
            </a:solidFill>
            <a:prstDash val="solid"/>
          </a:ln>
        </p:spPr>
      </p:sp>
      <p:sp>
        <p:nvSpPr>
          <p:cNvPr id="5" name="ib-name"/>
          <p:cNvSpPr txBox="1"/>
          <p:nvPr/>
        </p:nvSpPr>
        <p:spPr>
          <a:xfrm>
            <a:off x="7360920" y="1645920"/>
            <a:ext cx="402336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invoice-bot</a:t>
            </a:r>
            <a:endParaRPr lang="en-US" sz="2200" dirty="0"/>
          </a:p>
        </p:txBody>
      </p:sp>
      <p:sp>
        <p:nvSpPr>
          <p:cNvPr id="6" name="ib-score"/>
          <p:cNvSpPr txBox="1"/>
          <p:nvPr/>
        </p:nvSpPr>
        <p:spPr>
          <a:xfrm>
            <a:off x="7360920" y="2103120"/>
            <a:ext cx="4023360" cy="868680"/>
          </a:xfrm>
          <a:prstGeom prst="rect">
            <a:avLst/>
          </a:prstGeom>
          <a:noFill/>
          <a:ln/>
        </p:spPr>
        <p:txBody>
          <a:bodyPr wrap="square" lIns="0" tIns="0" rIns="0" bIns="0" rtlCol="0" anchor="ctr"/>
          <a:lstStyle/>
          <a:p>
            <a:pPr indent="0" marL="0">
              <a:buNone/>
            </a:pPr>
            <a:r>
              <a:rPr lang="en-US" sz="4800" b="1" dirty="0">
                <a:solidFill>
                  <a:schemeClr val="accent2"/>
                </a:solidFill>
              </a:rPr>
              <a:t>90</a:t>
            </a:r>
            <a:pPr indent="0" marL="0">
              <a:buNone/>
            </a:pPr>
            <a:r>
              <a:rPr lang="en-US" sz="1800" b="1" dirty="0">
                <a:solidFill>
                  <a:schemeClr val="accent2"/>
                </a:solidFill>
              </a:rPr>
              <a:t>  CRITICAL</a:t>
            </a:r>
            <a:endParaRPr lang="en-US" sz="4800" dirty="0"/>
          </a:p>
        </p:txBody>
      </p:sp>
      <p:sp>
        <p:nvSpPr>
          <p:cNvPr id="7" name="ib-signals"/>
          <p:cNvSpPr txBox="1"/>
          <p:nvPr/>
        </p:nvSpPr>
        <p:spPr>
          <a:xfrm>
            <a:off x="7360920" y="3063240"/>
            <a:ext cx="4069080" cy="1554480"/>
          </a:xfrm>
          <a:prstGeom prst="rect">
            <a:avLst/>
          </a:prstGeom>
          <a:noFill/>
          <a:ln/>
        </p:spPr>
        <p:txBody>
          <a:bodyPr wrap="square" lIns="0" tIns="0" rIns="0" bIns="0" rtlCol="0" anchor="t"/>
          <a:lstStyle/>
          <a:p>
            <a:pPr indent="0" marL="0">
              <a:spcAft>
                <a:spcPts val="800"/>
              </a:spcAft>
              <a:buNone/>
            </a:pPr>
            <a:r>
              <a:rPr lang="en-US" sz="1400" dirty="0">
                <a:solidFill>
                  <a:schemeClr val="tx1"/>
                </a:solidFill>
              </a:rPr>
              <a:t>+40  Owner Denise.Hunt is an inactive leaver</a:t>
            </a:r>
            <a:endParaRPr lang="en-US" sz="1400" dirty="0"/>
          </a:p>
          <a:p>
            <a:pPr indent="0" marL="0">
              <a:spcAft>
                <a:spcPts val="800"/>
              </a:spcAft>
              <a:buNone/>
            </a:pPr>
            <a:r>
              <a:rPr lang="en-US" sz="1400" dirty="0">
                <a:solidFill>
                  <a:schemeClr val="tx1"/>
                </a:solidFill>
              </a:rPr>
              <a:t>+30  Violates ENFORCED SoD policy (matched by entitlement ID)</a:t>
            </a:r>
            <a:endParaRPr lang="en-US" sz="1400" dirty="0"/>
          </a:p>
          <a:p>
            <a:pPr indent="0" marL="0">
              <a:spcAft>
                <a:spcPts val="800"/>
              </a:spcAft>
              <a:buNone/>
            </a:pPr>
            <a:r>
              <a:rPr lang="en-US" sz="1400" dirty="0">
                <a:solidFill>
                  <a:schemeClr val="tx1"/>
                </a:solidFill>
              </a:rPr>
              <a:t>+20  AccountsReceivable is outside its declared purpose</a:t>
            </a:r>
            <a:endParaRPr lang="en-US" sz="1400" dirty="0"/>
          </a:p>
        </p:txBody>
      </p:sp>
      <p:sp>
        <p:nvSpPr>
          <p:cNvPr id="8" name="ib-escalate"/>
          <p:cNvSpPr txBox="1"/>
          <p:nvPr/>
        </p:nvSpPr>
        <p:spPr>
          <a:xfrm>
            <a:off x="7360920" y="4434840"/>
            <a:ext cx="4069080" cy="731520"/>
          </a:xfrm>
          <a:prstGeom prst="rect">
            <a:avLst/>
          </a:prstGeom>
          <a:noFill/>
          <a:ln/>
        </p:spPr>
        <p:txBody>
          <a:bodyPr wrap="square" lIns="0" tIns="0" rIns="0" bIns="0" rtlCol="0" anchor="t"/>
          <a:lstStyle/>
          <a:p>
            <a:pPr indent="0" marL="0">
              <a:buNone/>
            </a:pPr>
            <a:r>
              <a:rPr lang="en-US" sz="1400" b="1" dirty="0">
                <a:solidFill>
                  <a:schemeClr val="tx1"/>
                </a:solidFill>
              </a:rPr>
              <a:t>Escalate to: </a:t>
            </a:r>
            <a:pPr indent="0" marL="0">
              <a:buNone/>
            </a:pPr>
            <a:r>
              <a:rPr lang="en-US" sz="1400" dirty="0">
                <a:solidFill>
                  <a:schemeClr val="tx1"/>
                </a:solidFill>
              </a:rPr>
              <a:t>Catherine.Simmons, the departed owner's manager</a:t>
            </a:r>
            <a:endParaRPr lang="en-US" sz="1400" dirty="0"/>
          </a:p>
        </p:txBody>
      </p:sp>
      <p:sp>
        <p:nvSpPr>
          <p:cNvPr id="9" name="staged"/>
          <p:cNvSpPr txBox="1"/>
          <p:nvPr/>
        </p:nvSpPr>
        <p:spPr>
          <a:xfrm>
            <a:off x="548640" y="5989320"/>
            <a:ext cx="11064240" cy="320040"/>
          </a:xfrm>
          <a:prstGeom prst="rect">
            <a:avLst/>
          </a:prstGeom>
          <a:noFill/>
          <a:ln/>
        </p:spPr>
        <p:txBody>
          <a:bodyPr wrap="square" lIns="0" tIns="0" rIns="0" bIns="0" rtlCol="0" anchor="ctr"/>
          <a:lstStyle/>
          <a:p>
            <a:pPr indent="0" marL="0">
              <a:buNone/>
            </a:pPr>
            <a:r>
              <a:rPr lang="en-US" sz="1200" i="1" dirty="0">
                <a:solidFill>
                  <a:schemeClr val="accent4"/>
                </a:solidFill>
              </a:rPr>
              <a:t>Agents are staged on a CSV source. Their owners, leaver status, entitlements and SoD policy are real ISC objects.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Nothing is contained until a human approves</a:t>
            </a:r>
            <a:endParaRPr lang="en-US" sz="3400" dirty="0"/>
          </a:p>
        </p:txBody>
      </p:sp>
      <p:sp>
        <p:nvSpPr>
          <p:cNvPr id="3" name="card-90"/>
          <p:cNvSpPr/>
          <p:nvPr/>
        </p:nvSpPr>
        <p:spPr>
          <a:xfrm>
            <a:off x="548640" y="1508760"/>
            <a:ext cx="2011680" cy="2514600"/>
          </a:xfrm>
          <a:prstGeom prst="roundRect">
            <a:avLst>
              <a:gd name="adj" fmla="val 5455"/>
            </a:avLst>
          </a:prstGeom>
          <a:solidFill>
            <a:schemeClr val="bg2"/>
          </a:solidFill>
          <a:ln w="12700">
            <a:solidFill>
              <a:schemeClr val="bg2"/>
            </a:solidFill>
            <a:prstDash val="solid"/>
          </a:ln>
        </p:spPr>
      </p:sp>
      <p:sp>
        <p:nvSpPr>
          <p:cNvPr id="4" name="num-91"/>
          <p:cNvSpPr/>
          <p:nvPr/>
        </p:nvSpPr>
        <p:spPr>
          <a:xfrm>
            <a:off x="731520" y="1691640"/>
            <a:ext cx="502920" cy="502920"/>
          </a:xfrm>
          <a:prstGeom prst="ellipse">
            <a:avLst/>
          </a:prstGeom>
          <a:solidFill>
            <a:schemeClr val="accent2"/>
          </a:solidFill>
          <a:ln w="12700">
            <a:solidFill>
              <a:schemeClr val="accent2"/>
            </a:solidFill>
            <a:prstDash val="solid"/>
          </a:ln>
        </p:spPr>
      </p:sp>
      <p:sp>
        <p:nvSpPr>
          <p:cNvPr id="5" name="numtxt-92"/>
          <p:cNvSpPr txBox="1"/>
          <p:nvPr/>
        </p:nvSpPr>
        <p:spPr>
          <a:xfrm>
            <a:off x="731520" y="1691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flowh-93"/>
          <p:cNvSpPr txBox="1"/>
          <p:nvPr/>
        </p:nvSpPr>
        <p:spPr>
          <a:xfrm>
            <a:off x="731520" y="2331720"/>
            <a:ext cx="1645920" cy="457200"/>
          </a:xfrm>
          <a:prstGeom prst="rect">
            <a:avLst/>
          </a:prstGeom>
          <a:noFill/>
          <a:ln/>
        </p:spPr>
        <p:txBody>
          <a:bodyPr wrap="square" lIns="0" tIns="0" rIns="0" bIns="0" rtlCol="0" anchor="ctr"/>
          <a:lstStyle/>
          <a:p>
            <a:pPr indent="0" marL="0">
              <a:buNone/>
            </a:pPr>
            <a:r>
              <a:rPr lang="en-US" sz="1800" b="1" dirty="0">
                <a:solidFill>
                  <a:schemeClr val="tx1"/>
                </a:solidFill>
              </a:rPr>
              <a:t>Detect</a:t>
            </a:r>
            <a:endParaRPr lang="en-US" sz="1800" dirty="0"/>
          </a:p>
        </p:txBody>
      </p:sp>
      <p:sp>
        <p:nvSpPr>
          <p:cNvPr id="7" name="flowd-94"/>
          <p:cNvSpPr txBox="1"/>
          <p:nvPr/>
        </p:nvSpPr>
        <p:spPr>
          <a:xfrm>
            <a:off x="731520" y="2788920"/>
            <a:ext cx="1691640" cy="1143000"/>
          </a:xfrm>
          <a:prstGeom prst="rect">
            <a:avLst/>
          </a:prstGeom>
          <a:noFill/>
          <a:ln/>
        </p:spPr>
        <p:txBody>
          <a:bodyPr wrap="square" lIns="0" tIns="0" rIns="0" bIns="0" rtlCol="0" anchor="t"/>
          <a:lstStyle/>
          <a:p>
            <a:pPr indent="0" marL="0">
              <a:buNone/>
            </a:pPr>
            <a:r>
              <a:rPr lang="en-US" sz="1400" dirty="0">
                <a:solidFill>
                  <a:schemeClr val="tx2"/>
                </a:solidFill>
              </a:rPr>
              <a:t>invoice-bot scores 90 CRITICAL</a:t>
            </a:r>
            <a:endParaRPr lang="en-US" sz="1400" dirty="0"/>
          </a:p>
        </p:txBody>
      </p:sp>
      <p:sp>
        <p:nvSpPr>
          <p:cNvPr id="8" name="farrow-95"/>
          <p:cNvSpPr/>
          <p:nvPr/>
        </p:nvSpPr>
        <p:spPr>
          <a:xfrm>
            <a:off x="2596896" y="2651760"/>
            <a:ext cx="182880" cy="237744"/>
          </a:xfrm>
          <a:prstGeom prst="rightArrow">
            <a:avLst/>
          </a:prstGeom>
          <a:solidFill>
            <a:schemeClr val="accent4"/>
          </a:solidFill>
          <a:ln w="12700">
            <a:solidFill>
              <a:schemeClr val="accent4"/>
            </a:solidFill>
            <a:prstDash val="solid"/>
          </a:ln>
        </p:spPr>
      </p:sp>
      <p:sp>
        <p:nvSpPr>
          <p:cNvPr id="9" name="card-96"/>
          <p:cNvSpPr/>
          <p:nvPr/>
        </p:nvSpPr>
        <p:spPr>
          <a:xfrm>
            <a:off x="2816352" y="1508760"/>
            <a:ext cx="2011680" cy="2514600"/>
          </a:xfrm>
          <a:prstGeom prst="roundRect">
            <a:avLst>
              <a:gd name="adj" fmla="val 5455"/>
            </a:avLst>
          </a:prstGeom>
          <a:solidFill>
            <a:schemeClr val="bg2"/>
          </a:solidFill>
          <a:ln w="12700">
            <a:solidFill>
              <a:schemeClr val="bg2"/>
            </a:solidFill>
            <a:prstDash val="solid"/>
          </a:ln>
        </p:spPr>
      </p:sp>
      <p:sp>
        <p:nvSpPr>
          <p:cNvPr id="10" name="num-97"/>
          <p:cNvSpPr/>
          <p:nvPr/>
        </p:nvSpPr>
        <p:spPr>
          <a:xfrm>
            <a:off x="2999232" y="1691640"/>
            <a:ext cx="502920" cy="502920"/>
          </a:xfrm>
          <a:prstGeom prst="ellipse">
            <a:avLst/>
          </a:prstGeom>
          <a:solidFill>
            <a:schemeClr val="accent4"/>
          </a:solidFill>
          <a:ln w="12700">
            <a:solidFill>
              <a:schemeClr val="accent4"/>
            </a:solidFill>
            <a:prstDash val="solid"/>
          </a:ln>
        </p:spPr>
      </p:sp>
      <p:sp>
        <p:nvSpPr>
          <p:cNvPr id="11" name="numtxt-98"/>
          <p:cNvSpPr txBox="1"/>
          <p:nvPr/>
        </p:nvSpPr>
        <p:spPr>
          <a:xfrm>
            <a:off x="2999232" y="1691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flowh-99"/>
          <p:cNvSpPr txBox="1"/>
          <p:nvPr/>
        </p:nvSpPr>
        <p:spPr>
          <a:xfrm>
            <a:off x="2999232" y="2331720"/>
            <a:ext cx="1645920" cy="457200"/>
          </a:xfrm>
          <a:prstGeom prst="rect">
            <a:avLst/>
          </a:prstGeom>
          <a:noFill/>
          <a:ln/>
        </p:spPr>
        <p:txBody>
          <a:bodyPr wrap="square" lIns="0" tIns="0" rIns="0" bIns="0" rtlCol="0" anchor="ctr"/>
          <a:lstStyle/>
          <a:p>
            <a:pPr indent="0" marL="0">
              <a:buNone/>
            </a:pPr>
            <a:r>
              <a:rPr lang="en-US" sz="1800" b="1" dirty="0">
                <a:solidFill>
                  <a:schemeClr val="tx1"/>
                </a:solidFill>
              </a:rPr>
              <a:t>Dry-run plan</a:t>
            </a:r>
            <a:endParaRPr lang="en-US" sz="1800" dirty="0"/>
          </a:p>
        </p:txBody>
      </p:sp>
      <p:sp>
        <p:nvSpPr>
          <p:cNvPr id="13" name="flowd-100"/>
          <p:cNvSpPr txBox="1"/>
          <p:nvPr/>
        </p:nvSpPr>
        <p:spPr>
          <a:xfrm>
            <a:off x="2999232" y="2788920"/>
            <a:ext cx="1691640" cy="1143000"/>
          </a:xfrm>
          <a:prstGeom prst="rect">
            <a:avLst/>
          </a:prstGeom>
          <a:noFill/>
          <a:ln/>
        </p:spPr>
        <p:txBody>
          <a:bodyPr wrap="square" lIns="0" tIns="0" rIns="0" bIns="0" rtlCol="0" anchor="t"/>
          <a:lstStyle/>
          <a:p>
            <a:pPr indent="0" marL="0">
              <a:buNone/>
            </a:pPr>
            <a:r>
              <a:rPr lang="en-US" sz="1400" dirty="0">
                <a:solidFill>
                  <a:schemeClr val="tx2"/>
                </a:solidFill>
              </a:rPr>
              <a:t>4 steps shown. Nothing changes.</a:t>
            </a:r>
            <a:endParaRPr lang="en-US" sz="1400" dirty="0"/>
          </a:p>
        </p:txBody>
      </p:sp>
      <p:sp>
        <p:nvSpPr>
          <p:cNvPr id="14" name="farrow-101"/>
          <p:cNvSpPr/>
          <p:nvPr/>
        </p:nvSpPr>
        <p:spPr>
          <a:xfrm>
            <a:off x="4864608" y="2651760"/>
            <a:ext cx="182880" cy="237744"/>
          </a:xfrm>
          <a:prstGeom prst="rightArrow">
            <a:avLst/>
          </a:prstGeom>
          <a:solidFill>
            <a:schemeClr val="accent4"/>
          </a:solidFill>
          <a:ln w="12700">
            <a:solidFill>
              <a:schemeClr val="accent4"/>
            </a:solidFill>
            <a:prstDash val="solid"/>
          </a:ln>
        </p:spPr>
      </p:sp>
      <p:sp>
        <p:nvSpPr>
          <p:cNvPr id="15" name="card-102"/>
          <p:cNvSpPr/>
          <p:nvPr/>
        </p:nvSpPr>
        <p:spPr>
          <a:xfrm>
            <a:off x="5084064" y="1508760"/>
            <a:ext cx="2011680" cy="2514600"/>
          </a:xfrm>
          <a:prstGeom prst="roundRect">
            <a:avLst>
              <a:gd name="adj" fmla="val 5455"/>
            </a:avLst>
          </a:prstGeom>
          <a:solidFill>
            <a:schemeClr val="bg2"/>
          </a:solidFill>
          <a:ln w="12700">
            <a:solidFill>
              <a:schemeClr val="bg2"/>
            </a:solidFill>
            <a:prstDash val="solid"/>
          </a:ln>
        </p:spPr>
      </p:sp>
      <p:sp>
        <p:nvSpPr>
          <p:cNvPr id="16" name="num-103"/>
          <p:cNvSpPr/>
          <p:nvPr/>
        </p:nvSpPr>
        <p:spPr>
          <a:xfrm>
            <a:off x="5266944" y="1691640"/>
            <a:ext cx="502920" cy="502920"/>
          </a:xfrm>
          <a:prstGeom prst="ellipse">
            <a:avLst/>
          </a:prstGeom>
          <a:solidFill>
            <a:schemeClr val="accent3"/>
          </a:solidFill>
          <a:ln w="12700">
            <a:solidFill>
              <a:schemeClr val="accent3"/>
            </a:solidFill>
            <a:prstDash val="solid"/>
          </a:ln>
        </p:spPr>
      </p:sp>
      <p:sp>
        <p:nvSpPr>
          <p:cNvPr id="17" name="numtxt-104"/>
          <p:cNvSpPr txBox="1"/>
          <p:nvPr/>
        </p:nvSpPr>
        <p:spPr>
          <a:xfrm>
            <a:off x="5266944" y="1691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flowh-105"/>
          <p:cNvSpPr txBox="1"/>
          <p:nvPr/>
        </p:nvSpPr>
        <p:spPr>
          <a:xfrm>
            <a:off x="5266944" y="2331720"/>
            <a:ext cx="1645920" cy="457200"/>
          </a:xfrm>
          <a:prstGeom prst="rect">
            <a:avLst/>
          </a:prstGeom>
          <a:noFill/>
          <a:ln/>
        </p:spPr>
        <p:txBody>
          <a:bodyPr wrap="square" lIns="0" tIns="0" rIns="0" bIns="0" rtlCol="0" anchor="ctr"/>
          <a:lstStyle/>
          <a:p>
            <a:pPr indent="0" marL="0">
              <a:buNone/>
            </a:pPr>
            <a:r>
              <a:rPr lang="en-US" sz="1800" b="1" dirty="0">
                <a:solidFill>
                  <a:schemeClr val="tx1"/>
                </a:solidFill>
              </a:rPr>
              <a:t>Human approves</a:t>
            </a:r>
            <a:endParaRPr lang="en-US" sz="1800" dirty="0"/>
          </a:p>
        </p:txBody>
      </p:sp>
      <p:sp>
        <p:nvSpPr>
          <p:cNvPr id="19" name="flowd-106"/>
          <p:cNvSpPr txBox="1"/>
          <p:nvPr/>
        </p:nvSpPr>
        <p:spPr>
          <a:xfrm>
            <a:off x="5266944" y="2788920"/>
            <a:ext cx="1691640" cy="1143000"/>
          </a:xfrm>
          <a:prstGeom prst="rect">
            <a:avLst/>
          </a:prstGeom>
          <a:noFill/>
          <a:ln/>
        </p:spPr>
        <p:txBody>
          <a:bodyPr wrap="square" lIns="0" tIns="0" rIns="0" bIns="0" rtlCol="0" anchor="t"/>
          <a:lstStyle/>
          <a:p>
            <a:pPr indent="0" marL="0">
              <a:buNone/>
            </a:pPr>
            <a:r>
              <a:rPr lang="en-US" sz="1400" dirty="0">
                <a:solidFill>
                  <a:schemeClr val="tx2"/>
                </a:solidFill>
              </a:rPr>
              <a:t>confirm=true with the dry-run token and a reason</a:t>
            </a:r>
            <a:endParaRPr lang="en-US" sz="1400" dirty="0"/>
          </a:p>
        </p:txBody>
      </p:sp>
      <p:sp>
        <p:nvSpPr>
          <p:cNvPr id="20" name="farrow-107"/>
          <p:cNvSpPr/>
          <p:nvPr/>
        </p:nvSpPr>
        <p:spPr>
          <a:xfrm>
            <a:off x="7132320" y="2651760"/>
            <a:ext cx="182880" cy="237744"/>
          </a:xfrm>
          <a:prstGeom prst="rightArrow">
            <a:avLst/>
          </a:prstGeom>
          <a:solidFill>
            <a:schemeClr val="accent4"/>
          </a:solidFill>
          <a:ln w="12700">
            <a:solidFill>
              <a:schemeClr val="accent4"/>
            </a:solidFill>
            <a:prstDash val="solid"/>
          </a:ln>
        </p:spPr>
      </p:sp>
      <p:sp>
        <p:nvSpPr>
          <p:cNvPr id="21" name="card-108"/>
          <p:cNvSpPr/>
          <p:nvPr/>
        </p:nvSpPr>
        <p:spPr>
          <a:xfrm>
            <a:off x="7351776" y="1508760"/>
            <a:ext cx="2011680" cy="2514600"/>
          </a:xfrm>
          <a:prstGeom prst="roundRect">
            <a:avLst>
              <a:gd name="adj" fmla="val 5455"/>
            </a:avLst>
          </a:prstGeom>
          <a:solidFill>
            <a:schemeClr val="bg2"/>
          </a:solidFill>
          <a:ln w="12700">
            <a:solidFill>
              <a:schemeClr val="bg2"/>
            </a:solidFill>
            <a:prstDash val="solid"/>
          </a:ln>
        </p:spPr>
      </p:sp>
      <p:sp>
        <p:nvSpPr>
          <p:cNvPr id="22" name="num-109"/>
          <p:cNvSpPr/>
          <p:nvPr/>
        </p:nvSpPr>
        <p:spPr>
          <a:xfrm>
            <a:off x="7534656" y="1691640"/>
            <a:ext cx="502920" cy="502920"/>
          </a:xfrm>
          <a:prstGeom prst="ellipse">
            <a:avLst/>
          </a:prstGeom>
          <a:solidFill>
            <a:schemeClr val="accent1"/>
          </a:solidFill>
          <a:ln w="12700">
            <a:solidFill>
              <a:schemeClr val="accent1"/>
            </a:solidFill>
            <a:prstDash val="solid"/>
          </a:ln>
        </p:spPr>
      </p:sp>
      <p:sp>
        <p:nvSpPr>
          <p:cNvPr id="23" name="numtxt-110"/>
          <p:cNvSpPr txBox="1"/>
          <p:nvPr/>
        </p:nvSpPr>
        <p:spPr>
          <a:xfrm>
            <a:off x="7534656" y="1691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flowh-111"/>
          <p:cNvSpPr txBox="1"/>
          <p:nvPr/>
        </p:nvSpPr>
        <p:spPr>
          <a:xfrm>
            <a:off x="7534656" y="2331720"/>
            <a:ext cx="1645920" cy="457200"/>
          </a:xfrm>
          <a:prstGeom prst="rect">
            <a:avLst/>
          </a:prstGeom>
          <a:noFill/>
          <a:ln/>
        </p:spPr>
        <p:txBody>
          <a:bodyPr wrap="square" lIns="0" tIns="0" rIns="0" bIns="0" rtlCol="0" anchor="ctr"/>
          <a:lstStyle/>
          <a:p>
            <a:pPr indent="0" marL="0">
              <a:buNone/>
            </a:pPr>
            <a:r>
              <a:rPr lang="en-US" sz="1800" b="1" dirty="0">
                <a:solidFill>
                  <a:schemeClr val="tx1"/>
                </a:solidFill>
              </a:rPr>
              <a:t>Contain</a:t>
            </a:r>
            <a:endParaRPr lang="en-US" sz="1800" dirty="0"/>
          </a:p>
        </p:txBody>
      </p:sp>
      <p:sp>
        <p:nvSpPr>
          <p:cNvPr id="25" name="flowd-112"/>
          <p:cNvSpPr txBox="1"/>
          <p:nvPr/>
        </p:nvSpPr>
        <p:spPr>
          <a:xfrm>
            <a:off x="7534656" y="2788920"/>
            <a:ext cx="1691640" cy="1143000"/>
          </a:xfrm>
          <a:prstGeom prst="rect">
            <a:avLst/>
          </a:prstGeom>
          <a:noFill/>
          <a:ln/>
        </p:spPr>
        <p:txBody>
          <a:bodyPr wrap="square" lIns="0" tIns="0" rIns="0" bIns="0" rtlCol="0" anchor="t"/>
          <a:lstStyle/>
          <a:p>
            <a:pPr indent="0" marL="0">
              <a:buNone/>
            </a:pPr>
            <a:r>
              <a:rPr lang="en-US" sz="1400" dirty="0">
                <a:solidFill>
                  <a:schemeClr val="tx2"/>
                </a:solidFill>
              </a:rPr>
              <a:t>Disable it in the target app; tag AGENT_QUARANTINED in ISC</a:t>
            </a:r>
            <a:endParaRPr lang="en-US" sz="1400" dirty="0"/>
          </a:p>
        </p:txBody>
      </p:sp>
      <p:sp>
        <p:nvSpPr>
          <p:cNvPr id="26" name="farrow-113"/>
          <p:cNvSpPr/>
          <p:nvPr/>
        </p:nvSpPr>
        <p:spPr>
          <a:xfrm>
            <a:off x="9400032" y="2651760"/>
            <a:ext cx="182880" cy="237744"/>
          </a:xfrm>
          <a:prstGeom prst="rightArrow">
            <a:avLst/>
          </a:prstGeom>
          <a:solidFill>
            <a:schemeClr val="accent4"/>
          </a:solidFill>
          <a:ln w="12700">
            <a:solidFill>
              <a:schemeClr val="accent4"/>
            </a:solidFill>
            <a:prstDash val="solid"/>
          </a:ln>
        </p:spPr>
      </p:sp>
      <p:sp>
        <p:nvSpPr>
          <p:cNvPr id="27" name="card-114"/>
          <p:cNvSpPr/>
          <p:nvPr/>
        </p:nvSpPr>
        <p:spPr>
          <a:xfrm>
            <a:off x="9619488" y="1508760"/>
            <a:ext cx="2011680" cy="2514600"/>
          </a:xfrm>
          <a:prstGeom prst="roundRect">
            <a:avLst>
              <a:gd name="adj" fmla="val 5455"/>
            </a:avLst>
          </a:prstGeom>
          <a:solidFill>
            <a:schemeClr val="bg2"/>
          </a:solidFill>
          <a:ln w="12700">
            <a:solidFill>
              <a:schemeClr val="bg2"/>
            </a:solidFill>
            <a:prstDash val="solid"/>
          </a:ln>
        </p:spPr>
      </p:sp>
      <p:sp>
        <p:nvSpPr>
          <p:cNvPr id="28" name="num-115"/>
          <p:cNvSpPr/>
          <p:nvPr/>
        </p:nvSpPr>
        <p:spPr>
          <a:xfrm>
            <a:off x="9802368" y="1691640"/>
            <a:ext cx="502920" cy="502920"/>
          </a:xfrm>
          <a:prstGeom prst="ellipse">
            <a:avLst/>
          </a:prstGeom>
          <a:solidFill>
            <a:schemeClr val="accent5"/>
          </a:solidFill>
          <a:ln w="12700">
            <a:solidFill>
              <a:schemeClr val="accent5"/>
            </a:solidFill>
            <a:prstDash val="solid"/>
          </a:ln>
        </p:spPr>
      </p:sp>
      <p:sp>
        <p:nvSpPr>
          <p:cNvPr id="29" name="numtxt-116"/>
          <p:cNvSpPr txBox="1"/>
          <p:nvPr/>
        </p:nvSpPr>
        <p:spPr>
          <a:xfrm>
            <a:off x="9802368" y="1691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0" name="flowh-117"/>
          <p:cNvSpPr txBox="1"/>
          <p:nvPr/>
        </p:nvSpPr>
        <p:spPr>
          <a:xfrm>
            <a:off x="9802368" y="2331720"/>
            <a:ext cx="1645920" cy="457200"/>
          </a:xfrm>
          <a:prstGeom prst="rect">
            <a:avLst/>
          </a:prstGeom>
          <a:noFill/>
          <a:ln/>
        </p:spPr>
        <p:txBody>
          <a:bodyPr wrap="square" lIns="0" tIns="0" rIns="0" bIns="0" rtlCol="0" anchor="ctr"/>
          <a:lstStyle/>
          <a:p>
            <a:pPr indent="0" marL="0">
              <a:buNone/>
            </a:pPr>
            <a:r>
              <a:rPr lang="en-US" sz="1800" b="1" dirty="0">
                <a:solidFill>
                  <a:schemeClr val="tx1"/>
                </a:solidFill>
              </a:rPr>
              <a:t>Escalate</a:t>
            </a:r>
            <a:endParaRPr lang="en-US" sz="1800" dirty="0"/>
          </a:p>
        </p:txBody>
      </p:sp>
      <p:sp>
        <p:nvSpPr>
          <p:cNvPr id="31" name="flowd-118"/>
          <p:cNvSpPr txBox="1"/>
          <p:nvPr/>
        </p:nvSpPr>
        <p:spPr>
          <a:xfrm>
            <a:off x="9802368" y="2788920"/>
            <a:ext cx="1691640" cy="1143000"/>
          </a:xfrm>
          <a:prstGeom prst="rect">
            <a:avLst/>
          </a:prstGeom>
          <a:noFill/>
          <a:ln/>
        </p:spPr>
        <p:txBody>
          <a:bodyPr wrap="square" lIns="0" tIns="0" rIns="0" bIns="0" rtlCol="0" anchor="t"/>
          <a:lstStyle/>
          <a:p>
            <a:pPr indent="0" marL="0">
              <a:buNone/>
            </a:pPr>
            <a:r>
              <a:rPr lang="en-US" sz="1400" dirty="0">
                <a:solidFill>
                  <a:schemeClr val="tx2"/>
                </a:solidFill>
              </a:rPr>
              <a:t>Route to the owner's manager for a new accountable owner</a:t>
            </a:r>
            <a:endParaRPr lang="en-US" sz="1400" dirty="0"/>
          </a:p>
        </p:txBody>
      </p:sp>
      <p:sp>
        <p:nvSpPr>
          <p:cNvPr id="32" name="guard-h"/>
          <p:cNvSpPr txBox="1"/>
          <p:nvPr/>
        </p:nvSpPr>
        <p:spPr>
          <a:xfrm>
            <a:off x="548640" y="4343400"/>
            <a:ext cx="3657600" cy="411480"/>
          </a:xfrm>
          <a:prstGeom prst="rect">
            <a:avLst/>
          </a:prstGeom>
          <a:noFill/>
          <a:ln/>
        </p:spPr>
        <p:txBody>
          <a:bodyPr wrap="square" lIns="0" tIns="0" rIns="0" bIns="0" rtlCol="0" anchor="ctr"/>
          <a:lstStyle/>
          <a:p>
            <a:pPr indent="0" marL="0">
              <a:buNone/>
            </a:pPr>
            <a:r>
              <a:rPr lang="en-US" sz="1800" b="1" dirty="0">
                <a:solidFill>
                  <a:schemeClr val="tx1"/>
                </a:solidFill>
              </a:rPr>
              <a:t>Guardrails</a:t>
            </a:r>
            <a:endParaRPr lang="en-US" sz="1800" dirty="0"/>
          </a:p>
        </p:txBody>
      </p:sp>
      <p:sp>
        <p:nvSpPr>
          <p:cNvPr id="33" name="guard-119"/>
          <p:cNvSpPr txBox="1"/>
          <p:nvPr/>
        </p:nvSpPr>
        <p:spPr>
          <a:xfrm>
            <a:off x="548640" y="4800600"/>
            <a:ext cx="3520440" cy="1097280"/>
          </a:xfrm>
          <a:prstGeom prst="rect">
            <a:avLst/>
          </a:prstGeom>
          <a:noFill/>
          <a:ln/>
        </p:spPr>
        <p:txBody>
          <a:bodyPr wrap="square" lIns="0" tIns="0" rIns="0" bIns="0" rtlCol="0" anchor="t"/>
          <a:lstStyle/>
          <a:p>
            <a:pPr indent="0" marL="0">
              <a:buNone/>
            </a:pPr>
            <a:r>
              <a:rPr lang="en-US" sz="1400" b="1" dirty="0">
                <a:solidFill>
                  <a:schemeClr val="tx1"/>
                </a:solidFill>
              </a:rPr>
              <a:t>4 of 5 tools read-only</a:t>
            </a:r>
            <a:endParaRPr lang="en-US" sz="1400" dirty="0"/>
          </a:p>
          <a:p>
            <a:pPr indent="0" marL="0">
              <a:buNone/>
            </a:pPr>
            <a:r>
              <a:rPr lang="en-US" sz="1400" dirty="0">
                <a:solidFill>
                  <a:schemeClr val="tx2"/>
                </a:solidFill>
              </a:rPr>
              <a:t>quarantine_agent is marked destructive; the server refuses to act without a dry-run token</a:t>
            </a:r>
            <a:endParaRPr lang="en-US" sz="1400" dirty="0"/>
          </a:p>
        </p:txBody>
      </p:sp>
      <p:sp>
        <p:nvSpPr>
          <p:cNvPr id="34" name="guard-120"/>
          <p:cNvSpPr txBox="1"/>
          <p:nvPr/>
        </p:nvSpPr>
        <p:spPr>
          <a:xfrm>
            <a:off x="4297680" y="4800600"/>
            <a:ext cx="3520440" cy="1097280"/>
          </a:xfrm>
          <a:prstGeom prst="rect">
            <a:avLst/>
          </a:prstGeom>
          <a:noFill/>
          <a:ln/>
        </p:spPr>
        <p:txBody>
          <a:bodyPr wrap="square" lIns="0" tIns="0" rIns="0" bIns="0" rtlCol="0" anchor="t"/>
          <a:lstStyle/>
          <a:p>
            <a:pPr indent="0" marL="0">
              <a:buNone/>
            </a:pPr>
            <a:r>
              <a:rPr lang="en-US" sz="1400" b="1" dirty="0">
                <a:solidFill>
                  <a:schemeClr val="tx1"/>
                </a:solidFill>
              </a:rPr>
              <a:t>No secrets on disk</a:t>
            </a:r>
            <a:endParaRPr lang="en-US" sz="1400" dirty="0"/>
          </a:p>
          <a:p>
            <a:pPr indent="0" marL="0">
              <a:buNone/>
            </a:pPr>
            <a:r>
              <a:rPr lang="en-US" sz="1400" dirty="0">
                <a:solidFill>
                  <a:schemeClr val="tx2"/>
                </a:solidFill>
              </a:rPr>
              <a:t>Credentials live only in macOS Keychain or Windows Credential Manager</a:t>
            </a:r>
            <a:endParaRPr lang="en-US" sz="1400" dirty="0"/>
          </a:p>
        </p:txBody>
      </p:sp>
      <p:sp>
        <p:nvSpPr>
          <p:cNvPr id="35" name="guard-121"/>
          <p:cNvSpPr txBox="1"/>
          <p:nvPr/>
        </p:nvSpPr>
        <p:spPr>
          <a:xfrm>
            <a:off x="8046720" y="4800600"/>
            <a:ext cx="3520440" cy="1097280"/>
          </a:xfrm>
          <a:prstGeom prst="rect">
            <a:avLst/>
          </a:prstGeom>
          <a:noFill/>
          <a:ln/>
        </p:spPr>
        <p:txBody>
          <a:bodyPr wrap="square" lIns="0" tIns="0" rIns="0" bIns="0" rtlCol="0" anchor="t"/>
          <a:lstStyle/>
          <a:p>
            <a:pPr indent="0" marL="0">
              <a:buNone/>
            </a:pPr>
            <a:r>
              <a:rPr lang="en-US" sz="1400" b="1" dirty="0">
                <a:solidFill>
                  <a:schemeClr val="tx1"/>
                </a:solidFill>
              </a:rPr>
              <a:t>Auditable and reversible</a:t>
            </a:r>
            <a:endParaRPr lang="en-US" sz="1400" dirty="0"/>
          </a:p>
          <a:p>
            <a:pPr indent="0" marL="0">
              <a:buNone/>
            </a:pPr>
            <a:r>
              <a:rPr lang="en-US" sz="1400" dirty="0">
                <a:solidFill>
                  <a:schemeClr val="tx2"/>
                </a:solidFill>
              </a:rPr>
              <a:t>Every ISC call logged with a correlation ID; one command reverses containment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11094415" cy="137160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Your dashboards say green.</a:t>
            </a:r>
            <a:endParaRPr lang="en-US" sz="5400" dirty="0"/>
          </a:p>
        </p:txBody>
      </p:sp>
      <p:sp>
        <p:nvSpPr>
          <p:cNvPr id="3" name="Text 0"/>
          <p:cNvSpPr/>
          <p:nvPr>
            <p:ph idx="101" type="body" hasCustomPrompt="1"/>
          </p:nvPr>
        </p:nvSpPr>
        <p:spPr>
          <a:xfrm>
            <a:off x="548640" y="3063240"/>
            <a:ext cx="8686800" cy="1097280"/>
          </a:xfrm>
          <a:prstGeom prst="rect">
            <a:avLst/>
          </a:prstGeom>
          <a:noFill/>
          <a:ln/>
        </p:spPr>
        <p:txBody>
          <a:bodyPr wrap="square" lIns="0" tIns="0" rIns="0" bIns="0" rtlCol="0" anchor="t"/>
          <a:lstStyle/>
          <a:p>
            <a:pPr indent="0" marL="0">
              <a:buNone/>
            </a:pPr>
            <a:r>
              <a:rPr lang="en-US" sz="2000" dirty="0">
                <a:solidFill>
                  <a:srgbClr val="C7D0DC"/>
                </a:solidFill>
              </a:rPr>
              <a:t>Ask the agent what they're not telling you.</a:t>
            </a:r>
            <a:endParaRPr lang="en-US" sz="2000" dirty="0"/>
          </a:p>
        </p:txBody>
      </p:sp>
      <p:sp>
        <p:nvSpPr>
          <p:cNvPr id="4" name="valcard-122"/>
          <p:cNvSpPr/>
          <p:nvPr/>
        </p:nvSpPr>
        <p:spPr>
          <a:xfrm>
            <a:off x="548640" y="4160520"/>
            <a:ext cx="3520440" cy="1234440"/>
          </a:xfrm>
          <a:prstGeom prst="roundRect">
            <a:avLst>
              <a:gd name="adj" fmla="val 8889"/>
            </a:avLst>
          </a:prstGeom>
          <a:solidFill>
            <a:srgbClr val="16233A"/>
          </a:solidFill>
          <a:ln w="12700">
            <a:solidFill>
              <a:srgbClr val="16233A"/>
            </a:solidFill>
            <a:prstDash val="solid"/>
          </a:ln>
        </p:spPr>
      </p:sp>
      <p:sp>
        <p:nvSpPr>
          <p:cNvPr id="5" name="valtxt-123"/>
          <p:cNvSpPr txBox="1"/>
          <p:nvPr/>
        </p:nvSpPr>
        <p:spPr>
          <a:xfrm>
            <a:off x="777240" y="4206240"/>
            <a:ext cx="3108960" cy="1143000"/>
          </a:xfrm>
          <a:prstGeom prst="rect">
            <a:avLst/>
          </a:prstGeom>
          <a:noFill/>
          <a:ln/>
        </p:spPr>
        <p:txBody>
          <a:bodyPr wrap="square" lIns="0" tIns="0" rIns="0" bIns="0" rtlCol="0" anchor="ctr"/>
          <a:lstStyle/>
          <a:p>
            <a:pPr indent="0" marL="0">
              <a:buNone/>
            </a:pPr>
            <a:r>
              <a:rPr lang="en-US" sz="2000" b="1" dirty="0">
                <a:solidFill>
                  <a:schemeClr val="accent1"/>
                </a:solidFill>
              </a:rPr>
              <a:t>One conversation</a:t>
            </a:r>
            <a:endParaRPr lang="en-US" sz="2000" dirty="0"/>
          </a:p>
          <a:p>
            <a:pPr indent="0" marL="0">
              <a:buNone/>
            </a:pPr>
            <a:r>
              <a:rPr lang="en-US" sz="1400" dirty="0">
                <a:solidFill>
                  <a:srgbClr val="C7D0DC"/>
                </a:solidFill>
              </a:rPr>
              <a:t>Detect, explain and contain; each tool call takes under 5 seconds</a:t>
            </a:r>
            <a:endParaRPr lang="en-US" sz="2000" dirty="0"/>
          </a:p>
        </p:txBody>
      </p:sp>
      <p:sp>
        <p:nvSpPr>
          <p:cNvPr id="6" name="valcard-124"/>
          <p:cNvSpPr/>
          <p:nvPr/>
        </p:nvSpPr>
        <p:spPr>
          <a:xfrm>
            <a:off x="4297680" y="4160520"/>
            <a:ext cx="3520440" cy="1234440"/>
          </a:xfrm>
          <a:prstGeom prst="roundRect">
            <a:avLst>
              <a:gd name="adj" fmla="val 8889"/>
            </a:avLst>
          </a:prstGeom>
          <a:solidFill>
            <a:srgbClr val="16233A"/>
          </a:solidFill>
          <a:ln w="12700">
            <a:solidFill>
              <a:srgbClr val="16233A"/>
            </a:solidFill>
            <a:prstDash val="solid"/>
          </a:ln>
        </p:spPr>
      </p:sp>
      <p:sp>
        <p:nvSpPr>
          <p:cNvPr id="7" name="valtxt-125"/>
          <p:cNvSpPr txBox="1"/>
          <p:nvPr/>
        </p:nvSpPr>
        <p:spPr>
          <a:xfrm>
            <a:off x="4526280" y="4206240"/>
            <a:ext cx="3108960" cy="1143000"/>
          </a:xfrm>
          <a:prstGeom prst="rect">
            <a:avLst/>
          </a:prstGeom>
          <a:noFill/>
          <a:ln/>
        </p:spPr>
        <p:txBody>
          <a:bodyPr wrap="square" lIns="0" tIns="0" rIns="0" bIns="0" rtlCol="0" anchor="ctr"/>
          <a:lstStyle/>
          <a:p>
            <a:pPr indent="0" marL="0">
              <a:buNone/>
            </a:pPr>
            <a:r>
              <a:rPr lang="en-US" sz="2000" b="1" dirty="0">
                <a:solidFill>
                  <a:schemeClr val="accent1"/>
                </a:solidFill>
              </a:rPr>
              <a:t>One model</a:t>
            </a:r>
            <a:endParaRPr lang="en-US" sz="2000" dirty="0"/>
          </a:p>
          <a:p>
            <a:pPr indent="0" marL="0">
              <a:buNone/>
            </a:pPr>
            <a:r>
              <a:rPr lang="en-US" sz="1400" dirty="0">
                <a:solidFill>
                  <a:srgbClr val="C7D0DC"/>
                </a:solidFill>
              </a:rPr>
              <a:t>The same chain logic catches rogue agents and leavers</a:t>
            </a:r>
            <a:endParaRPr lang="en-US" sz="2000" dirty="0"/>
          </a:p>
        </p:txBody>
      </p:sp>
      <p:sp>
        <p:nvSpPr>
          <p:cNvPr id="8" name="valcard-126"/>
          <p:cNvSpPr/>
          <p:nvPr/>
        </p:nvSpPr>
        <p:spPr>
          <a:xfrm>
            <a:off x="8046720" y="4160520"/>
            <a:ext cx="3520440" cy="1234440"/>
          </a:xfrm>
          <a:prstGeom prst="roundRect">
            <a:avLst>
              <a:gd name="adj" fmla="val 8889"/>
            </a:avLst>
          </a:prstGeom>
          <a:solidFill>
            <a:srgbClr val="16233A"/>
          </a:solidFill>
          <a:ln w="12700">
            <a:solidFill>
              <a:srgbClr val="16233A"/>
            </a:solidFill>
            <a:prstDash val="solid"/>
          </a:ln>
        </p:spPr>
      </p:sp>
      <p:sp>
        <p:nvSpPr>
          <p:cNvPr id="9" name="valtxt-127"/>
          <p:cNvSpPr txBox="1"/>
          <p:nvPr/>
        </p:nvSpPr>
        <p:spPr>
          <a:xfrm>
            <a:off x="8275320" y="4206240"/>
            <a:ext cx="3108960" cy="1143000"/>
          </a:xfrm>
          <a:prstGeom prst="rect">
            <a:avLst/>
          </a:prstGeom>
          <a:noFill/>
          <a:ln/>
        </p:spPr>
        <p:txBody>
          <a:bodyPr wrap="square" lIns="0" tIns="0" rIns="0" bIns="0" rtlCol="0" anchor="ctr"/>
          <a:lstStyle/>
          <a:p>
            <a:pPr indent="0" marL="0">
              <a:buNone/>
            </a:pPr>
            <a:r>
              <a:rPr lang="en-US" sz="2000" b="1" dirty="0">
                <a:solidFill>
                  <a:schemeClr val="accent1"/>
                </a:solidFill>
              </a:rPr>
              <a:t>30-day pilot</a:t>
            </a:r>
            <a:endParaRPr lang="en-US" sz="2000" dirty="0"/>
          </a:p>
          <a:p>
            <a:pPr indent="0" marL="0">
              <a:buNone/>
            </a:pPr>
            <a:r>
              <a:rPr lang="en-US" sz="1400" dirty="0">
                <a:solidFill>
                  <a:srgbClr val="C7D0DC"/>
                </a:solidFill>
              </a:rPr>
              <a:t>Every CRITICAL agent contained within 1 business day</a:t>
            </a:r>
            <a:endParaRPr lang="en-US" sz="2000" dirty="0"/>
          </a:p>
        </p:txBody>
      </p:sp>
      <p:sp>
        <p:nvSpPr>
          <p:cNvPr id="10" name="repo">
            <a:hlinkClick r:id="rId1" tooltip=""/>
          </p:cNvPr>
          <p:cNvSpPr txBox="1"/>
          <p:nvPr/>
        </p:nvSpPr>
        <p:spPr>
          <a:xfrm>
            <a:off x="548640" y="5897880"/>
            <a:ext cx="7315200" cy="365760"/>
          </a:xfrm>
          <a:prstGeom prst="rect">
            <a:avLst/>
          </a:prstGeom>
          <a:noFill/>
          <a:ln/>
        </p:spPr>
        <p:txBody>
          <a:bodyPr wrap="square" lIns="0" tIns="0" rIns="0" bIns="0" rtlCol="0" anchor="ctr"/>
          <a:lstStyle/>
          <a:p>
            <a:pPr indent="0" marL="0">
              <a:buNone/>
            </a:pPr>
            <a:r>
              <a:rPr lang="en-US" sz="1500" u="sng" dirty="0">
                <a:solidFill>
                  <a:srgbClr val="93A1B5"/>
                </a:solidFill>
                <a:hlinkClick r:id="rId1" invalidUrl="" action="" tgtFrame="" tooltip="" history="1" highlightClick="0" endSnd="0">
                  <a:extLst>
                    <a:ext uri="{A12FA001-AC4F-418D-AE19-62706E023703}">
                      <ahyp:hlinkClr xmlns:ahyp="http://schemas.microsoft.com/office/drawing/2018/hyperlinkcolor" val="tx"/>
                    </a:ext>
                  </a:extLst>
                </a:hlinkClick>
              </a:rPr>
              <a:t>github.com/sairavula/Sailpoint-Navigate26-HackDay</a:t>
            </a:r>
            <a:endParaRPr lang="en-US" sz="1500" dirty="0"/>
          </a:p>
        </p:txBody>
      </p:sp>
    </p:spTree>
  </p:cSld>
  <p:clrMapOvr>
    <a:masterClrMapping/>
  </p:clrMapOvr>
</p:sld>
</file>

<file path=ppt/theme/theme1.xml><?xml version="1.0" encoding="utf-8"?>
<a:theme xmlns:a="http://schemas.openxmlformats.org/drawingml/2006/main" name="Green Isnt Safe">
  <a:themeElements>
    <a:clrScheme name="Green Isnt Safe">
      <a:dk1>
        <a:srgbClr val="0E1726"/>
      </a:dk1>
      <a:lt1>
        <a:srgbClr val="FFFFFF"/>
      </a:lt1>
      <a:dk2>
        <a:srgbClr val="425166"/>
      </a:dk2>
      <a:lt2>
        <a:srgbClr val="F2F4F7"/>
      </a:lt2>
      <a:accent1>
        <a:srgbClr val="17B26A"/>
      </a:accent1>
      <a:accent2>
        <a:srgbClr val="E5484D"/>
      </a:accent2>
      <a:accent3>
        <a:srgbClr val="F5A524"/>
      </a:accent3>
      <a:accent4>
        <a:srgbClr val="64748B"/>
      </a:accent4>
      <a:accent5>
        <a:srgbClr val="2E7CF6"/>
      </a:accent5>
      <a:accent6>
        <a:srgbClr val="1E2B3D"/>
      </a:accent6>
      <a:hlink>
        <a:srgbClr val="2E7CF6"/>
      </a:hlink>
      <a:folHlink>
        <a:srgbClr val="64748B"/>
      </a:folHlink>
    </a:clrScheme>
    <a:fontScheme name="Green Isnt Saf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Isn't Safe</dc:title>
  <dc:subject>SailPoint Navigate 2026 Hack Day - MCP Server track</dc:subject>
  <dc:creator>Sai Ravula, Alex, Muyiwa</dc:creator>
  <cp:lastModifiedBy>Sai Ravula, Alex, Muyiwa</cp:lastModifiedBy>
  <cp:revision>1</cp:revision>
  <dcterms:created xsi:type="dcterms:W3CDTF">2026-10-05T17:50:22Z</dcterms:created>
  <dcterms:modified xsi:type="dcterms:W3CDTF">2026-10-05T17:50:22Z</dcterms:modified>
</cp:coreProperties>
</file>